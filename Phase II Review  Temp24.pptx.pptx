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76" r:id="rId16"/>
    <p:sldId id="269" r:id="rId17"/>
    <p:sldId id="270" r:id="rId18"/>
    <p:sldId id="271" r:id="rId19"/>
    <p:sldId id="277" r:id="rId20"/>
    <p:sldId id="278" r:id="rId21"/>
    <p:sldId id="279" r:id="rId22"/>
    <p:sldId id="274" r:id="rId2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481A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66675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481A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66675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481A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66675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481A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66675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66675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" y="8"/>
            <a:ext cx="1981233" cy="685799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6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82699" y="0"/>
                </a:lnTo>
                <a:lnTo>
                  <a:pt x="182699" y="6857999"/>
                </a:lnTo>
                <a:close/>
              </a:path>
            </a:pathLst>
          </a:custGeom>
          <a:solidFill>
            <a:srgbClr val="2E53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11200"/>
            <a:ext cx="1366520" cy="508000"/>
          </a:xfrm>
          <a:custGeom>
            <a:avLst/>
            <a:gdLst/>
            <a:ahLst/>
            <a:cxnLst/>
            <a:rect l="l" t="t" r="r" b="b"/>
            <a:pathLst>
              <a:path w="1366520" h="508000">
                <a:moveTo>
                  <a:pt x="1120208" y="507999"/>
                </a:moveTo>
                <a:lnTo>
                  <a:pt x="1019855" y="507999"/>
                </a:lnTo>
                <a:lnTo>
                  <a:pt x="0" y="504850"/>
                </a:lnTo>
                <a:lnTo>
                  <a:pt x="0" y="0"/>
                </a:lnTo>
                <a:lnTo>
                  <a:pt x="1115397" y="2438"/>
                </a:lnTo>
                <a:lnTo>
                  <a:pt x="1120208" y="7162"/>
                </a:lnTo>
                <a:lnTo>
                  <a:pt x="1124848" y="7162"/>
                </a:lnTo>
                <a:lnTo>
                  <a:pt x="1124848" y="11988"/>
                </a:lnTo>
                <a:lnTo>
                  <a:pt x="1129831" y="11988"/>
                </a:lnTo>
                <a:lnTo>
                  <a:pt x="1358890" y="240893"/>
                </a:lnTo>
                <a:lnTo>
                  <a:pt x="1364207" y="248049"/>
                </a:lnTo>
                <a:lnTo>
                  <a:pt x="1365979" y="255200"/>
                </a:lnTo>
                <a:lnTo>
                  <a:pt x="1364207" y="262360"/>
                </a:lnTo>
                <a:lnTo>
                  <a:pt x="1358890" y="269544"/>
                </a:lnTo>
                <a:lnTo>
                  <a:pt x="1129831" y="498449"/>
                </a:lnTo>
                <a:lnTo>
                  <a:pt x="1128285" y="500024"/>
                </a:lnTo>
                <a:lnTo>
                  <a:pt x="1126394" y="501649"/>
                </a:lnTo>
                <a:lnTo>
                  <a:pt x="1120208" y="50799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67600" y="125412"/>
            <a:ext cx="1416050" cy="4540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25625" y="32511"/>
            <a:ext cx="6142403" cy="1721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481A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3274" y="1314462"/>
            <a:ext cx="8166100" cy="36956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08174" y="6249606"/>
            <a:ext cx="43180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66675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3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" y="8"/>
              <a:ext cx="1981233" cy="68579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82880" cy="6858000"/>
            </a:xfrm>
            <a:custGeom>
              <a:avLst/>
              <a:gdLst/>
              <a:ahLst/>
              <a:cxnLst/>
              <a:rect l="l" t="t" r="r" b="b"/>
              <a:pathLst>
                <a:path w="182880" h="6858000">
                  <a:moveTo>
                    <a:pt x="1826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82699" y="0"/>
                  </a:lnTo>
                  <a:lnTo>
                    <a:pt x="182699" y="6857999"/>
                  </a:lnTo>
                  <a:close/>
                </a:path>
              </a:pathLst>
            </a:custGeom>
            <a:solidFill>
              <a:srgbClr val="2E53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4321266"/>
            <a:ext cx="1370965" cy="781050"/>
          </a:xfrm>
          <a:custGeom>
            <a:avLst/>
            <a:gdLst/>
            <a:ahLst/>
            <a:cxnLst/>
            <a:rect l="l" t="t" r="r" b="b"/>
            <a:pathLst>
              <a:path w="1370965" h="781050">
                <a:moveTo>
                  <a:pt x="974463" y="780958"/>
                </a:moveTo>
                <a:lnTo>
                  <a:pt x="0" y="780277"/>
                </a:lnTo>
                <a:lnTo>
                  <a:pt x="0" y="0"/>
                </a:lnTo>
                <a:lnTo>
                  <a:pt x="974463" y="3111"/>
                </a:lnTo>
                <a:lnTo>
                  <a:pt x="1002572" y="12405"/>
                </a:lnTo>
                <a:lnTo>
                  <a:pt x="1007257" y="12405"/>
                </a:lnTo>
                <a:lnTo>
                  <a:pt x="1007257" y="17169"/>
                </a:lnTo>
                <a:lnTo>
                  <a:pt x="1363657" y="368642"/>
                </a:lnTo>
                <a:lnTo>
                  <a:pt x="1368928" y="379833"/>
                </a:lnTo>
                <a:lnTo>
                  <a:pt x="1370684" y="391448"/>
                </a:lnTo>
                <a:lnTo>
                  <a:pt x="1368928" y="402186"/>
                </a:lnTo>
                <a:lnTo>
                  <a:pt x="1363657" y="410741"/>
                </a:lnTo>
                <a:lnTo>
                  <a:pt x="1007257" y="766899"/>
                </a:lnTo>
                <a:lnTo>
                  <a:pt x="1002572" y="766899"/>
                </a:lnTo>
                <a:lnTo>
                  <a:pt x="1002572" y="771586"/>
                </a:lnTo>
                <a:lnTo>
                  <a:pt x="998180" y="775027"/>
                </a:lnTo>
                <a:lnTo>
                  <a:pt x="992031" y="778029"/>
                </a:lnTo>
                <a:lnTo>
                  <a:pt x="984126" y="780153"/>
                </a:lnTo>
                <a:lnTo>
                  <a:pt x="974463" y="780958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76300" y="42862"/>
            <a:ext cx="8153400" cy="884555"/>
            <a:chOff x="876300" y="42862"/>
            <a:chExt cx="8153400" cy="88455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67600" y="304800"/>
              <a:ext cx="1416050" cy="4540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6300" y="42862"/>
              <a:ext cx="8153400" cy="859155"/>
            </a:xfrm>
            <a:custGeom>
              <a:avLst/>
              <a:gdLst/>
              <a:ahLst/>
              <a:cxnLst/>
              <a:rect l="l" t="t" r="r" b="b"/>
              <a:pathLst>
                <a:path w="8153400" h="859155">
                  <a:moveTo>
                    <a:pt x="8153399" y="858836"/>
                  </a:moveTo>
                  <a:lnTo>
                    <a:pt x="0" y="858836"/>
                  </a:lnTo>
                  <a:lnTo>
                    <a:pt x="0" y="0"/>
                  </a:lnTo>
                  <a:lnTo>
                    <a:pt x="8153399" y="0"/>
                  </a:lnTo>
                  <a:lnTo>
                    <a:pt x="8153399" y="858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4600" y="185737"/>
              <a:ext cx="4618036" cy="74136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762144" y="5121655"/>
            <a:ext cx="361759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1633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Presented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By: </a:t>
            </a:r>
            <a:r>
              <a:rPr sz="1800" b="1" dirty="0">
                <a:latin typeface="Times New Roman"/>
                <a:cs typeface="Times New Roman"/>
              </a:rPr>
              <a:t>CHANDRAKANTH</a:t>
            </a:r>
            <a:r>
              <a:rPr sz="1800" b="1" spc="38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ENG22CS0040</a:t>
            </a:r>
            <a:endParaRPr sz="1800">
              <a:latin typeface="Times New Roman"/>
              <a:cs typeface="Times New Roman"/>
            </a:endParaRPr>
          </a:p>
          <a:p>
            <a:pPr marL="125730" marR="116205" indent="-635" algn="ctr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CHETAN</a:t>
            </a:r>
            <a:r>
              <a:rPr sz="1800" b="1" spc="2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ENG22CS0041 CHINNIRATHOD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ENG22CS0042 </a:t>
            </a:r>
            <a:r>
              <a:rPr sz="1800" b="1" dirty="0">
                <a:latin typeface="Times New Roman"/>
                <a:cs typeface="Times New Roman"/>
              </a:rPr>
              <a:t>DARSHAN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ENG22CS0044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70780" y="2097595"/>
            <a:ext cx="6535420" cy="1727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27025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Major</a:t>
            </a:r>
            <a:r>
              <a:rPr sz="2400" b="1" spc="-6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Project</a:t>
            </a:r>
            <a:r>
              <a:rPr sz="2400" b="1" spc="-1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70C0"/>
                </a:solidFill>
                <a:latin typeface="Times New Roman"/>
                <a:cs typeface="Times New Roman"/>
              </a:rPr>
              <a:t>Phase-</a:t>
            </a:r>
            <a:r>
              <a:rPr sz="2400" b="1" spc="-50" dirty="0">
                <a:solidFill>
                  <a:srgbClr val="0070C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0000"/>
              </a:lnSpc>
              <a:spcBef>
                <a:spcPts val="2600"/>
              </a:spcBef>
            </a:pPr>
            <a:r>
              <a:rPr sz="2200" b="1" dirty="0">
                <a:solidFill>
                  <a:srgbClr val="420408"/>
                </a:solidFill>
                <a:latin typeface="Times New Roman"/>
                <a:cs typeface="Times New Roman"/>
              </a:rPr>
              <a:t>Intelligent</a:t>
            </a:r>
            <a:r>
              <a:rPr sz="2200" b="1" spc="-65" dirty="0">
                <a:solidFill>
                  <a:srgbClr val="420408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20408"/>
                </a:solidFill>
                <a:latin typeface="Times New Roman"/>
                <a:cs typeface="Times New Roman"/>
              </a:rPr>
              <a:t>Student</a:t>
            </a:r>
            <a:r>
              <a:rPr sz="2200" b="1" spc="-65" dirty="0">
                <a:solidFill>
                  <a:srgbClr val="420408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20408"/>
                </a:solidFill>
                <a:latin typeface="Times New Roman"/>
                <a:cs typeface="Times New Roman"/>
              </a:rPr>
              <a:t>Support</a:t>
            </a:r>
            <a:r>
              <a:rPr sz="2200" b="1" spc="-60" dirty="0">
                <a:solidFill>
                  <a:srgbClr val="420408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20408"/>
                </a:solidFill>
                <a:latin typeface="Times New Roman"/>
                <a:cs typeface="Times New Roman"/>
              </a:rPr>
              <a:t>System</a:t>
            </a:r>
            <a:r>
              <a:rPr sz="2200" b="1" spc="-65" dirty="0">
                <a:solidFill>
                  <a:srgbClr val="420408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20408"/>
                </a:solidFill>
                <a:latin typeface="Times New Roman"/>
                <a:cs typeface="Times New Roman"/>
              </a:rPr>
              <a:t>Using</a:t>
            </a:r>
            <a:r>
              <a:rPr sz="2200" b="1" spc="-60" dirty="0">
                <a:solidFill>
                  <a:srgbClr val="420408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420408"/>
                </a:solidFill>
                <a:latin typeface="Times New Roman"/>
                <a:cs typeface="Times New Roman"/>
              </a:rPr>
              <a:t>Multilingual Conversational</a:t>
            </a:r>
            <a:r>
              <a:rPr sz="2200" b="1" spc="-60" dirty="0">
                <a:solidFill>
                  <a:srgbClr val="420408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420408"/>
                </a:solidFill>
                <a:latin typeface="Times New Roman"/>
                <a:cs typeface="Times New Roman"/>
              </a:rPr>
              <a:t>AI</a:t>
            </a:r>
            <a:endParaRPr sz="22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200" b="1" dirty="0">
                <a:solidFill>
                  <a:srgbClr val="420408"/>
                </a:solidFill>
                <a:latin typeface="Times New Roman"/>
                <a:cs typeface="Times New Roman"/>
              </a:rPr>
              <a:t>TEAM</a:t>
            </a:r>
            <a:r>
              <a:rPr sz="2200" b="1" spc="-15" dirty="0">
                <a:solidFill>
                  <a:srgbClr val="420408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20408"/>
                </a:solidFill>
                <a:latin typeface="Times New Roman"/>
                <a:cs typeface="Times New Roman"/>
              </a:rPr>
              <a:t>N0</a:t>
            </a:r>
            <a:r>
              <a:rPr sz="2200" b="1" spc="-10" dirty="0">
                <a:solidFill>
                  <a:srgbClr val="420408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420408"/>
                </a:solidFill>
                <a:latin typeface="Times New Roman"/>
                <a:cs typeface="Times New Roman"/>
              </a:rPr>
              <a:t>:-</a:t>
            </a:r>
            <a:r>
              <a:rPr sz="2200" b="1" spc="-10" dirty="0">
                <a:solidFill>
                  <a:srgbClr val="420408"/>
                </a:solidFill>
                <a:latin typeface="Times New Roman"/>
                <a:cs typeface="Times New Roman"/>
              </a:rPr>
              <a:t> </a:t>
            </a:r>
            <a:r>
              <a:rPr sz="2200" b="1" spc="-35" dirty="0">
                <a:solidFill>
                  <a:srgbClr val="420408"/>
                </a:solidFill>
                <a:latin typeface="Times New Roman"/>
                <a:cs typeface="Times New Roman"/>
              </a:rPr>
              <a:t>24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975465" y="1330388"/>
            <a:ext cx="7570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D0D47"/>
                </a:solidFill>
              </a:rPr>
              <a:t>Department</a:t>
            </a:r>
            <a:r>
              <a:rPr sz="2800" spc="-70" dirty="0">
                <a:solidFill>
                  <a:srgbClr val="0D0D47"/>
                </a:solidFill>
              </a:rPr>
              <a:t> </a:t>
            </a:r>
            <a:r>
              <a:rPr sz="2800" dirty="0">
                <a:solidFill>
                  <a:srgbClr val="0D0D47"/>
                </a:solidFill>
              </a:rPr>
              <a:t>of</a:t>
            </a:r>
            <a:r>
              <a:rPr sz="2800" spc="-70" dirty="0">
                <a:solidFill>
                  <a:srgbClr val="0D0D47"/>
                </a:solidFill>
              </a:rPr>
              <a:t> </a:t>
            </a:r>
            <a:r>
              <a:rPr sz="2800" spc="-10" dirty="0">
                <a:solidFill>
                  <a:srgbClr val="0D0D47"/>
                </a:solidFill>
              </a:rPr>
              <a:t>Computer</a:t>
            </a:r>
            <a:r>
              <a:rPr sz="2800" spc="-120" dirty="0">
                <a:solidFill>
                  <a:srgbClr val="0D0D47"/>
                </a:solidFill>
              </a:rPr>
              <a:t> </a:t>
            </a:r>
            <a:r>
              <a:rPr sz="2800" dirty="0">
                <a:solidFill>
                  <a:srgbClr val="0D0D47"/>
                </a:solidFill>
              </a:rPr>
              <a:t>Science</a:t>
            </a:r>
            <a:r>
              <a:rPr sz="2800" spc="-70" dirty="0">
                <a:solidFill>
                  <a:srgbClr val="0D0D47"/>
                </a:solidFill>
              </a:rPr>
              <a:t> </a:t>
            </a:r>
            <a:r>
              <a:rPr sz="2800" dirty="0">
                <a:solidFill>
                  <a:srgbClr val="0D0D47"/>
                </a:solidFill>
              </a:rPr>
              <a:t>and</a:t>
            </a:r>
            <a:r>
              <a:rPr sz="2800" spc="-120" dirty="0">
                <a:solidFill>
                  <a:srgbClr val="0D0D47"/>
                </a:solidFill>
              </a:rPr>
              <a:t> </a:t>
            </a:r>
            <a:r>
              <a:rPr sz="2800" spc="-10" dirty="0">
                <a:solidFill>
                  <a:srgbClr val="0D0D47"/>
                </a:solidFill>
              </a:rPr>
              <a:t>Technology</a:t>
            </a:r>
            <a:endParaRPr sz="2800"/>
          </a:p>
        </p:txBody>
      </p:sp>
      <p:sp>
        <p:nvSpPr>
          <p:cNvPr id="14" name="object 14"/>
          <p:cNvSpPr txBox="1"/>
          <p:nvPr/>
        </p:nvSpPr>
        <p:spPr>
          <a:xfrm>
            <a:off x="3147634" y="4071639"/>
            <a:ext cx="34163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45134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3117"/>
                </a:solidFill>
                <a:latin typeface="Times New Roman"/>
                <a:cs typeface="Times New Roman"/>
              </a:rPr>
              <a:t>Under</a:t>
            </a:r>
            <a:r>
              <a:rPr sz="2000" b="1" spc="-85" dirty="0">
                <a:solidFill>
                  <a:srgbClr val="00311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117"/>
                </a:solidFill>
                <a:latin typeface="Times New Roman"/>
                <a:cs typeface="Times New Roman"/>
              </a:rPr>
              <a:t>the</a:t>
            </a:r>
            <a:r>
              <a:rPr sz="2000" b="1" spc="-45" dirty="0">
                <a:solidFill>
                  <a:srgbClr val="003117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117"/>
                </a:solidFill>
                <a:latin typeface="Times New Roman"/>
                <a:cs typeface="Times New Roman"/>
              </a:rPr>
              <a:t>Supervision </a:t>
            </a:r>
            <a:r>
              <a:rPr sz="2000" b="1" dirty="0">
                <a:solidFill>
                  <a:srgbClr val="003117"/>
                </a:solidFill>
                <a:latin typeface="Times New Roman"/>
                <a:cs typeface="Times New Roman"/>
              </a:rPr>
              <a:t>Prof.</a:t>
            </a:r>
            <a:r>
              <a:rPr sz="2000" b="1" spc="-45" dirty="0">
                <a:solidFill>
                  <a:srgbClr val="00311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117"/>
                </a:solidFill>
                <a:latin typeface="Times New Roman"/>
                <a:cs typeface="Times New Roman"/>
              </a:rPr>
              <a:t>Prof</a:t>
            </a:r>
            <a:r>
              <a:rPr sz="2000" b="1" spc="380" dirty="0">
                <a:solidFill>
                  <a:srgbClr val="003117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3117"/>
                </a:solidFill>
                <a:latin typeface="Times New Roman"/>
                <a:cs typeface="Times New Roman"/>
              </a:rPr>
              <a:t>Tanaya</a:t>
            </a:r>
            <a:r>
              <a:rPr sz="2000" b="1" spc="-45" dirty="0">
                <a:solidFill>
                  <a:srgbClr val="00311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117"/>
                </a:solidFill>
                <a:latin typeface="Times New Roman"/>
                <a:cs typeface="Times New Roman"/>
              </a:rPr>
              <a:t>Bala</a:t>
            </a:r>
            <a:r>
              <a:rPr sz="2000" b="1" spc="-45" dirty="0">
                <a:solidFill>
                  <a:srgbClr val="003117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117"/>
                </a:solidFill>
                <a:latin typeface="Times New Roman"/>
                <a:cs typeface="Times New Roman"/>
              </a:rPr>
              <a:t>Behera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8925" y="4536439"/>
            <a:ext cx="1663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FDFFFF"/>
                </a:solidFill>
                <a:latin typeface="Century Gothic"/>
                <a:cs typeface="Century Gothic"/>
              </a:rPr>
              <a:t>1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49425" y="580199"/>
            <a:ext cx="1903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Overview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02354" y="6213093"/>
            <a:ext cx="22618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Dept</a:t>
            </a:r>
            <a:r>
              <a:rPr sz="900" spc="-2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CSE.,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SOE-Dayananda</a:t>
            </a:r>
            <a:r>
              <a:rPr sz="900" spc="-1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Sagar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University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>
              <a:lnSpc>
                <a:spcPct val="100000"/>
              </a:lnSpc>
            </a:pPr>
            <a:fld id="{81D60167-4931-47E6-BA6A-407CBD079E47}" type="slidenum">
              <a:rPr dirty="0"/>
              <a:t>2</a:t>
            </a:fld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62137" y="6277386"/>
            <a:ext cx="82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888888"/>
                </a:solidFill>
                <a:latin typeface="Times New Roman"/>
                <a:cs typeface="Times New Roman"/>
              </a:rPr>
              <a:t>*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5912" y="1713293"/>
            <a:ext cx="4101465" cy="32359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18465" indent="-405765">
              <a:lnSpc>
                <a:spcPct val="100000"/>
              </a:lnSpc>
              <a:spcBef>
                <a:spcPts val="1100"/>
              </a:spcBef>
              <a:buClr>
                <a:srgbClr val="353535"/>
              </a:buClr>
              <a:buChar char="□"/>
              <a:tabLst>
                <a:tab pos="418465" algn="l"/>
              </a:tabLst>
            </a:pP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Abstract</a:t>
            </a:r>
            <a:endParaRPr sz="1800" dirty="0">
              <a:latin typeface="Times New Roman"/>
              <a:cs typeface="Times New Roman"/>
            </a:endParaRPr>
          </a:p>
          <a:p>
            <a:pPr marL="418465" indent="-40576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Char char="□"/>
              <a:tabLst>
                <a:tab pos="41846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Scope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Clarity</a:t>
            </a:r>
            <a:endParaRPr sz="1800" dirty="0">
              <a:latin typeface="Times New Roman"/>
              <a:cs typeface="Times New Roman"/>
            </a:endParaRPr>
          </a:p>
          <a:p>
            <a:pPr marL="418465" indent="-40576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Char char="□"/>
              <a:tabLst>
                <a:tab pos="418465" algn="l"/>
              </a:tabLst>
            </a:pP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Requirement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Specification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1800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Validation</a:t>
            </a:r>
            <a:endParaRPr sz="1800" dirty="0">
              <a:latin typeface="Times New Roman"/>
              <a:cs typeface="Times New Roman"/>
            </a:endParaRPr>
          </a:p>
          <a:p>
            <a:pPr marL="418465" indent="-40576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Char char="□"/>
              <a:tabLst>
                <a:tab pos="41846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Innovation</a:t>
            </a:r>
            <a:r>
              <a:rPr sz="18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18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Potential</a:t>
            </a:r>
            <a:r>
              <a:rPr sz="18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Impact</a:t>
            </a:r>
            <a:endParaRPr sz="1800" dirty="0">
              <a:latin typeface="Times New Roman"/>
              <a:cs typeface="Times New Roman"/>
            </a:endParaRPr>
          </a:p>
          <a:p>
            <a:pPr marL="418465" indent="-40576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Char char="□"/>
              <a:tabLst>
                <a:tab pos="418465" algn="l"/>
              </a:tabLst>
            </a:pP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Literature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Survey</a:t>
            </a:r>
            <a:endParaRPr sz="1800" dirty="0">
              <a:latin typeface="Times New Roman"/>
              <a:cs typeface="Times New Roman"/>
            </a:endParaRPr>
          </a:p>
          <a:p>
            <a:pPr marL="418465" indent="-40576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Char char="□"/>
              <a:tabLst>
                <a:tab pos="418465" algn="l"/>
              </a:tabLst>
            </a:pP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High-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Level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Design</a:t>
            </a:r>
            <a:endParaRPr sz="1800" dirty="0">
              <a:latin typeface="Times New Roman"/>
              <a:cs typeface="Times New Roman"/>
            </a:endParaRPr>
          </a:p>
          <a:p>
            <a:pPr marL="418465" indent="-40576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Char char="□"/>
              <a:tabLst>
                <a:tab pos="418465" algn="l"/>
              </a:tabLst>
            </a:pPr>
            <a:r>
              <a:rPr lang="en-US" spc="-10" dirty="0">
                <a:solidFill>
                  <a:srgbClr val="404040"/>
                </a:solidFill>
                <a:latin typeface="Times New Roman"/>
                <a:cs typeface="Times New Roman"/>
              </a:rPr>
              <a:t>Demonstration</a:t>
            </a:r>
            <a:endParaRPr sz="1800" dirty="0">
              <a:latin typeface="Times New Roman"/>
              <a:cs typeface="Times New Roman"/>
            </a:endParaRPr>
          </a:p>
          <a:p>
            <a:pPr marL="418465" indent="-40576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Char char="□"/>
              <a:tabLst>
                <a:tab pos="418465" algn="l"/>
              </a:tabLst>
            </a:pP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References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52600" y="166127"/>
            <a:ext cx="6142403" cy="1721385"/>
          </a:xfrm>
          <a:prstGeom prst="rect">
            <a:avLst/>
          </a:prstGeom>
        </p:spPr>
        <p:txBody>
          <a:bodyPr vert="horz" wrap="square" lIns="0" tIns="560387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>
              <a:lnSpc>
                <a:spcPct val="100000"/>
              </a:lnSpc>
            </a:pPr>
            <a:fld id="{81D60167-4931-47E6-BA6A-407CBD079E47}" type="slidenum">
              <a:rPr dirty="0"/>
              <a:t>3</a:t>
            </a:fld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52360" y="6265481"/>
            <a:ext cx="22618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Dept</a:t>
            </a:r>
            <a:r>
              <a:rPr sz="900" spc="-2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CSE.,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SOE-Dayananda</a:t>
            </a:r>
            <a:r>
              <a:rPr sz="900" spc="-1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Sagar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University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63825" y="6267861"/>
            <a:ext cx="82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888888"/>
                </a:solidFill>
                <a:latin typeface="Times New Roman"/>
                <a:cs typeface="Times New Roman"/>
              </a:rPr>
              <a:t>*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2199" y="1753896"/>
            <a:ext cx="7516001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Clr>
                <a:srgbClr val="353535"/>
              </a:buClr>
              <a:buFont typeface="MS PMincho"/>
              <a:buChar char="➢"/>
              <a:tabLst>
                <a:tab pos="469900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current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college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web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sites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information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about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college,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instance,</a:t>
            </a:r>
            <a:r>
              <a:rPr lang="en-US" sz="18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admissions,</a:t>
            </a:r>
            <a:r>
              <a:rPr lang="en-US" sz="18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infrastructure,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departments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faculties,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placements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soon,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needs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searched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by traversing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through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time-consuming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website.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53535"/>
              </a:buClr>
            </a:pPr>
            <a:endParaRPr sz="1800" dirty="0">
              <a:latin typeface="Times New Roman"/>
              <a:cs typeface="Times New Roman"/>
            </a:endParaRPr>
          </a:p>
          <a:p>
            <a:pPr marL="469900" marR="40005" indent="-457200">
              <a:lnSpc>
                <a:spcPct val="100000"/>
              </a:lnSpc>
              <a:buClr>
                <a:srgbClr val="353535"/>
              </a:buClr>
              <a:buFont typeface="MS PMincho"/>
              <a:buChar char="➢"/>
              <a:tabLst>
                <a:tab pos="469900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There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lang="en-US" sz="18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need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College</a:t>
            </a:r>
            <a:r>
              <a:rPr lang="en-US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Enquiry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CHATBOT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will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provide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text-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lang="en-US" sz="18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user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interface,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allowing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lang="en-US" sz="18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user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type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their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queries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regarding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college.</a:t>
            </a:r>
            <a:r>
              <a:rPr sz="1800" spc="-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These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will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be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responded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quickly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afe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real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person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talking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them.</a:t>
            </a:r>
            <a:endParaRPr lang="en-US" sz="1800" spc="-1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469900" marR="40005" indent="-457200">
              <a:lnSpc>
                <a:spcPct val="100000"/>
              </a:lnSpc>
              <a:buClr>
                <a:srgbClr val="353535"/>
              </a:buClr>
              <a:buFont typeface="MS PMincho"/>
              <a:buChar char="➢"/>
              <a:tabLst>
                <a:tab pos="469900" algn="l"/>
              </a:tabLst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353535"/>
                </a:solidFill>
                <a:latin typeface="MS PMincho"/>
                <a:cs typeface="MS PMincho"/>
              </a:rPr>
              <a:t>➢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CHATBOT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system,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student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candidates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find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information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   n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eed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without waiting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college/admission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staff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'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lang="en-US"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answer.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84485" y="496544"/>
            <a:ext cx="3526154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b="0" dirty="0">
                <a:latin typeface="Times New Roman"/>
                <a:cs typeface="Times New Roman"/>
              </a:rPr>
              <a:t>Project</a:t>
            </a:r>
            <a:r>
              <a:rPr sz="2850" b="0" spc="45" dirty="0">
                <a:latin typeface="Times New Roman"/>
                <a:cs typeface="Times New Roman"/>
              </a:rPr>
              <a:t> </a:t>
            </a:r>
            <a:r>
              <a:rPr sz="2850" b="0" dirty="0">
                <a:latin typeface="Times New Roman"/>
                <a:cs typeface="Times New Roman"/>
              </a:rPr>
              <a:t>Scope</a:t>
            </a:r>
            <a:r>
              <a:rPr sz="2850" b="0" spc="45" dirty="0">
                <a:latin typeface="Times New Roman"/>
                <a:cs typeface="Times New Roman"/>
              </a:rPr>
              <a:t> </a:t>
            </a:r>
            <a:r>
              <a:rPr sz="2850" b="0" dirty="0">
                <a:latin typeface="Times New Roman"/>
                <a:cs typeface="Times New Roman"/>
              </a:rPr>
              <a:t>&amp;</a:t>
            </a:r>
            <a:r>
              <a:rPr sz="2850" b="0" spc="45" dirty="0">
                <a:latin typeface="Times New Roman"/>
                <a:cs typeface="Times New Roman"/>
              </a:rPr>
              <a:t> </a:t>
            </a:r>
            <a:r>
              <a:rPr sz="2850" b="0" spc="-10" dirty="0">
                <a:latin typeface="Times New Roman"/>
                <a:cs typeface="Times New Roman"/>
              </a:rPr>
              <a:t>Clarity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16654" y="6265481"/>
            <a:ext cx="22618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Dept</a:t>
            </a:r>
            <a:r>
              <a:rPr sz="900" spc="-2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CSE.,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SOE-Dayananda</a:t>
            </a:r>
            <a:r>
              <a:rPr sz="900" spc="-1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Sagar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University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62174" y="6265481"/>
            <a:ext cx="3492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4</a:t>
            </a:r>
            <a:r>
              <a:rPr sz="900" spc="-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888888"/>
                </a:solidFill>
                <a:latin typeface="Times New Roman"/>
                <a:cs typeface="Times New Roman"/>
              </a:rPr>
              <a:t>12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63825" y="6267861"/>
            <a:ext cx="82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888888"/>
                </a:solidFill>
                <a:latin typeface="Times New Roman"/>
                <a:cs typeface="Times New Roman"/>
              </a:rPr>
              <a:t>*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8247" y="1483966"/>
            <a:ext cx="6028055" cy="410464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47040" indent="-434340">
              <a:lnSpc>
                <a:spcPct val="100000"/>
              </a:lnSpc>
              <a:spcBef>
                <a:spcPts val="1100"/>
              </a:spcBef>
              <a:buClr>
                <a:srgbClr val="353535"/>
              </a:buClr>
              <a:buFont typeface="MS PMincho"/>
              <a:buChar char="➢"/>
              <a:tabLst>
                <a:tab pos="447040" algn="l"/>
              </a:tabLst>
            </a:pP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16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Purpose</a:t>
            </a:r>
            <a:r>
              <a:rPr sz="16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16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Objectives</a:t>
            </a:r>
            <a:endParaRPr sz="1600">
              <a:latin typeface="Times New Roman"/>
              <a:cs typeface="Times New Roman"/>
            </a:endParaRPr>
          </a:p>
          <a:p>
            <a:pPr marL="847090" lvl="1" indent="-29400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Arial"/>
              <a:buChar char="○"/>
              <a:tabLst>
                <a:tab pos="847090" algn="l"/>
              </a:tabLst>
            </a:pP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Develop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NLP-powered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College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Enquiry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Chatbot.</a:t>
            </a:r>
            <a:endParaRPr sz="1600">
              <a:latin typeface="Times New Roman"/>
              <a:cs typeface="Times New Roman"/>
            </a:endParaRPr>
          </a:p>
          <a:p>
            <a:pPr marL="847090" lvl="1" indent="-29400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Arial"/>
              <a:buChar char="○"/>
              <a:tabLst>
                <a:tab pos="847090" algn="l"/>
              </a:tabLst>
            </a:pP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Provide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instant,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automated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responses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college-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related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queries.</a:t>
            </a:r>
            <a:endParaRPr sz="1600">
              <a:latin typeface="Times New Roman"/>
              <a:cs typeface="Times New Roman"/>
            </a:endParaRPr>
          </a:p>
          <a:p>
            <a:pPr marL="847090" lvl="1" indent="-29400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Arial"/>
              <a:buChar char="○"/>
              <a:tabLst>
                <a:tab pos="847090" algn="l"/>
              </a:tabLst>
            </a:pP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Reduce</a:t>
            </a:r>
            <a:r>
              <a:rPr sz="16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time</a:t>
            </a:r>
            <a:r>
              <a:rPr sz="16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effort</a:t>
            </a:r>
            <a:r>
              <a:rPr sz="16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6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students,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parents,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staff.</a:t>
            </a:r>
            <a:endParaRPr sz="1600">
              <a:latin typeface="Times New Roman"/>
              <a:cs typeface="Times New Roman"/>
            </a:endParaRPr>
          </a:p>
          <a:p>
            <a:pPr marL="847090" lvl="1" indent="-29400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Arial"/>
              <a:buChar char="○"/>
              <a:tabLst>
                <a:tab pos="847090" algn="l"/>
              </a:tabLst>
            </a:pP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Offer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6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conversational,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human-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like</a:t>
            </a:r>
            <a:r>
              <a:rPr sz="16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interaction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experience.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600">
              <a:latin typeface="Times New Roman"/>
              <a:cs typeface="Times New Roman"/>
            </a:endParaRPr>
          </a:p>
          <a:p>
            <a:pPr marL="561340" indent="-434340">
              <a:lnSpc>
                <a:spcPct val="100000"/>
              </a:lnSpc>
              <a:buFont typeface="MS PMincho"/>
              <a:buChar char="➢"/>
              <a:tabLst>
                <a:tab pos="561340" algn="l"/>
              </a:tabLst>
            </a:pPr>
            <a:r>
              <a:rPr sz="1600" b="1" dirty="0">
                <a:latin typeface="Times New Roman"/>
                <a:cs typeface="Times New Roman"/>
              </a:rPr>
              <a:t>Defined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Scope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Boundaries</a:t>
            </a:r>
            <a:endParaRPr sz="1600">
              <a:latin typeface="Times New Roman"/>
              <a:cs typeface="Times New Roman"/>
            </a:endParaRPr>
          </a:p>
          <a:p>
            <a:pPr marL="1018540" lvl="1" indent="-351155">
              <a:lnSpc>
                <a:spcPct val="100000"/>
              </a:lnSpc>
              <a:spcBef>
                <a:spcPts val="285"/>
              </a:spcBef>
              <a:buFont typeface="Arial"/>
              <a:buChar char="○"/>
              <a:tabLst>
                <a:tab pos="1018540" algn="l"/>
              </a:tabLst>
            </a:pPr>
            <a:r>
              <a:rPr sz="1600" spc="-35" dirty="0">
                <a:latin typeface="Times New Roman"/>
                <a:cs typeface="Times New Roman"/>
              </a:rPr>
              <a:t>Text-</a:t>
            </a:r>
            <a:r>
              <a:rPr sz="1600" dirty="0">
                <a:latin typeface="Times New Roman"/>
                <a:cs typeface="Times New Roman"/>
              </a:rPr>
              <a:t>based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chatbot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college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enquiry.</a:t>
            </a:r>
            <a:endParaRPr sz="1600">
              <a:latin typeface="Times New Roman"/>
              <a:cs typeface="Times New Roman"/>
            </a:endParaRPr>
          </a:p>
          <a:p>
            <a:pPr marL="1018540" lvl="1" indent="-351155">
              <a:lnSpc>
                <a:spcPct val="100000"/>
              </a:lnSpc>
              <a:spcBef>
                <a:spcPts val="290"/>
              </a:spcBef>
              <a:buFont typeface="Arial"/>
              <a:buChar char="○"/>
              <a:tabLst>
                <a:tab pos="1018540" algn="l"/>
              </a:tabLst>
            </a:pPr>
            <a:r>
              <a:rPr sz="1600" spc="-10" dirty="0">
                <a:latin typeface="Times New Roman"/>
                <a:cs typeface="Times New Roman"/>
              </a:rPr>
              <a:t>NLP-</a:t>
            </a:r>
            <a:r>
              <a:rPr sz="1600" dirty="0">
                <a:latin typeface="Times New Roman"/>
                <a:cs typeface="Times New Roman"/>
              </a:rPr>
              <a:t>based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intent,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entity,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context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identification.</a:t>
            </a:r>
            <a:endParaRPr sz="1600">
              <a:latin typeface="Times New Roman"/>
              <a:cs typeface="Times New Roman"/>
            </a:endParaRPr>
          </a:p>
          <a:p>
            <a:pPr marL="1018540" lvl="1" indent="-351155">
              <a:lnSpc>
                <a:spcPct val="100000"/>
              </a:lnSpc>
              <a:spcBef>
                <a:spcPts val="290"/>
              </a:spcBef>
              <a:buFont typeface="Arial"/>
              <a:buChar char="○"/>
              <a:tabLst>
                <a:tab pos="1018540" algn="l"/>
              </a:tabLst>
            </a:pPr>
            <a:r>
              <a:rPr sz="1600" spc="-10" dirty="0">
                <a:latin typeface="Times New Roman"/>
                <a:cs typeface="Times New Roman"/>
              </a:rPr>
              <a:t>Sentiment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analysis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empathetic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replies.</a:t>
            </a:r>
            <a:endParaRPr sz="1600">
              <a:latin typeface="Times New Roman"/>
              <a:cs typeface="Times New Roman"/>
            </a:endParaRPr>
          </a:p>
          <a:p>
            <a:pPr marL="1018540" lvl="1" indent="-351155">
              <a:lnSpc>
                <a:spcPct val="100000"/>
              </a:lnSpc>
              <a:spcBef>
                <a:spcPts val="285"/>
              </a:spcBef>
              <a:buFont typeface="Arial"/>
              <a:buChar char="○"/>
              <a:tabLst>
                <a:tab pos="1018540" algn="l"/>
              </a:tabLst>
            </a:pPr>
            <a:r>
              <a:rPr sz="1600" spc="-20" dirty="0">
                <a:latin typeface="Times New Roman"/>
                <a:cs typeface="Times New Roman"/>
              </a:rPr>
              <a:t>Knowledge-</a:t>
            </a:r>
            <a:r>
              <a:rPr sz="1600" dirty="0">
                <a:latin typeface="Times New Roman"/>
                <a:cs typeface="Times New Roman"/>
              </a:rPr>
              <a:t>base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response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generation.</a:t>
            </a:r>
            <a:endParaRPr sz="1600">
              <a:latin typeface="Times New Roman"/>
              <a:cs typeface="Times New Roman"/>
            </a:endParaRPr>
          </a:p>
          <a:p>
            <a:pPr marL="1018540" lvl="1" indent="-351155">
              <a:lnSpc>
                <a:spcPct val="100000"/>
              </a:lnSpc>
              <a:spcBef>
                <a:spcPts val="290"/>
              </a:spcBef>
              <a:buFont typeface="Arial"/>
              <a:buChar char="○"/>
              <a:tabLst>
                <a:tab pos="1018540" algn="l"/>
              </a:tabLst>
            </a:pPr>
            <a:r>
              <a:rPr sz="1600" spc="-35" dirty="0">
                <a:latin typeface="Times New Roman"/>
                <a:cs typeface="Times New Roman"/>
              </a:rPr>
              <a:t>Web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deployment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chatbot.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28205" y="633248"/>
            <a:ext cx="39154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latin typeface="Times New Roman"/>
                <a:cs typeface="Times New Roman"/>
              </a:rPr>
              <a:t>Project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Scope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&amp;</a:t>
            </a:r>
            <a:r>
              <a:rPr sz="3200" b="0" spc="-45" dirty="0">
                <a:latin typeface="Times New Roman"/>
                <a:cs typeface="Times New Roman"/>
              </a:rPr>
              <a:t> </a:t>
            </a:r>
            <a:r>
              <a:rPr sz="3200" b="0" spc="-10" dirty="0">
                <a:latin typeface="Times New Roman"/>
                <a:cs typeface="Times New Roman"/>
              </a:rPr>
              <a:t>Clarity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9855" y="6249594"/>
            <a:ext cx="45402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(#)</a:t>
            </a:r>
            <a:r>
              <a:rPr sz="900" spc="21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888888"/>
                </a:solidFill>
                <a:latin typeface="Times New Roman"/>
                <a:cs typeface="Times New Roman"/>
              </a:rPr>
              <a:t>12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1389" y="1657096"/>
            <a:ext cx="5266055" cy="37211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47040" indent="-434340">
              <a:lnSpc>
                <a:spcPct val="100000"/>
              </a:lnSpc>
              <a:spcBef>
                <a:spcPts val="385"/>
              </a:spcBef>
              <a:buFont typeface="MS PMincho"/>
              <a:buChar char="➢"/>
              <a:tabLst>
                <a:tab pos="447040" algn="l"/>
              </a:tabLst>
            </a:pPr>
            <a:r>
              <a:rPr sz="1600" b="1" spc="-20" dirty="0">
                <a:latin typeface="Times New Roman"/>
                <a:cs typeface="Times New Roman"/>
              </a:rPr>
              <a:t>Target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Users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/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Beneficiaries</a:t>
            </a:r>
            <a:endParaRPr sz="1600">
              <a:latin typeface="Times New Roman"/>
              <a:cs typeface="Times New Roman"/>
            </a:endParaRPr>
          </a:p>
          <a:p>
            <a:pPr marL="904240" lvl="1" indent="-351155">
              <a:lnSpc>
                <a:spcPct val="100000"/>
              </a:lnSpc>
              <a:spcBef>
                <a:spcPts val="290"/>
              </a:spcBef>
              <a:buFont typeface="Arial"/>
              <a:buChar char="○"/>
              <a:tabLst>
                <a:tab pos="904240" algn="l"/>
              </a:tabLst>
            </a:pPr>
            <a:r>
              <a:rPr sz="1600" dirty="0">
                <a:latin typeface="Times New Roman"/>
                <a:cs typeface="Times New Roman"/>
              </a:rPr>
              <a:t>Students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(current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prospective).</a:t>
            </a:r>
            <a:endParaRPr sz="1600">
              <a:latin typeface="Times New Roman"/>
              <a:cs typeface="Times New Roman"/>
            </a:endParaRPr>
          </a:p>
          <a:p>
            <a:pPr marL="904240" lvl="1" indent="-351155">
              <a:lnSpc>
                <a:spcPct val="100000"/>
              </a:lnSpc>
              <a:spcBef>
                <a:spcPts val="285"/>
              </a:spcBef>
              <a:buFont typeface="Arial"/>
              <a:buChar char="○"/>
              <a:tabLst>
                <a:tab pos="904240" algn="l"/>
              </a:tabLst>
            </a:pPr>
            <a:r>
              <a:rPr sz="1600" dirty="0">
                <a:latin typeface="Times New Roman"/>
                <a:cs typeface="Times New Roman"/>
              </a:rPr>
              <a:t>Parents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guardians.</a:t>
            </a:r>
            <a:endParaRPr sz="1600">
              <a:latin typeface="Times New Roman"/>
              <a:cs typeface="Times New Roman"/>
            </a:endParaRPr>
          </a:p>
          <a:p>
            <a:pPr marL="904240" lvl="1" indent="-351155">
              <a:lnSpc>
                <a:spcPct val="100000"/>
              </a:lnSpc>
              <a:spcBef>
                <a:spcPts val="290"/>
              </a:spcBef>
              <a:buFont typeface="Arial"/>
              <a:buChar char="○"/>
              <a:tabLst>
                <a:tab pos="904240" algn="l"/>
              </a:tabLst>
            </a:pPr>
            <a:r>
              <a:rPr sz="1600" dirty="0">
                <a:latin typeface="Times New Roman"/>
                <a:cs typeface="Times New Roman"/>
              </a:rPr>
              <a:t>College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admission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administrative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staff.</a:t>
            </a:r>
            <a:endParaRPr sz="1600">
              <a:latin typeface="Times New Roman"/>
              <a:cs typeface="Times New Roman"/>
            </a:endParaRPr>
          </a:p>
          <a:p>
            <a:pPr marL="904240" lvl="1" indent="-351155">
              <a:lnSpc>
                <a:spcPct val="100000"/>
              </a:lnSpc>
              <a:spcBef>
                <a:spcPts val="290"/>
              </a:spcBef>
              <a:buFont typeface="Arial"/>
              <a:buChar char="○"/>
              <a:tabLst>
                <a:tab pos="904240" algn="l"/>
              </a:tabLst>
            </a:pPr>
            <a:r>
              <a:rPr sz="1600" dirty="0">
                <a:latin typeface="Times New Roman"/>
                <a:cs typeface="Times New Roman"/>
              </a:rPr>
              <a:t>Faculty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handling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frequent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repetitive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queries.</a:t>
            </a:r>
            <a:endParaRPr sz="160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1685"/>
              </a:spcBef>
            </a:pPr>
            <a:r>
              <a:rPr sz="1600" b="1" dirty="0">
                <a:latin typeface="Times New Roman"/>
                <a:cs typeface="Times New Roman"/>
              </a:rPr>
              <a:t>Key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Deliverables</a:t>
            </a:r>
            <a:endParaRPr sz="1600">
              <a:latin typeface="Times New Roman"/>
              <a:cs typeface="Times New Roman"/>
            </a:endParaRPr>
          </a:p>
          <a:p>
            <a:pPr marL="447040" indent="-351155">
              <a:lnSpc>
                <a:spcPct val="100000"/>
              </a:lnSpc>
              <a:spcBef>
                <a:spcPts val="1490"/>
              </a:spcBef>
              <a:buFont typeface="Arial"/>
              <a:buChar char="●"/>
              <a:tabLst>
                <a:tab pos="447040" algn="l"/>
              </a:tabLst>
            </a:pPr>
            <a:r>
              <a:rPr sz="1600" spc="-10" dirty="0">
                <a:latin typeface="Times New Roman"/>
                <a:cs typeface="Times New Roman"/>
              </a:rPr>
              <a:t>AI-</a:t>
            </a:r>
            <a:r>
              <a:rPr sz="1600" dirty="0">
                <a:latin typeface="Times New Roman"/>
                <a:cs typeface="Times New Roman"/>
              </a:rPr>
              <a:t>powered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College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Enquiry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Chatbot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(working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prototype).</a:t>
            </a:r>
            <a:endParaRPr sz="1600">
              <a:latin typeface="Times New Roman"/>
              <a:cs typeface="Times New Roman"/>
            </a:endParaRPr>
          </a:p>
          <a:p>
            <a:pPr marL="447040" indent="-351155">
              <a:lnSpc>
                <a:spcPct val="100000"/>
              </a:lnSpc>
              <a:spcBef>
                <a:spcPts val="285"/>
              </a:spcBef>
              <a:buFont typeface="Arial"/>
              <a:buChar char="●"/>
              <a:tabLst>
                <a:tab pos="447040" algn="l"/>
              </a:tabLst>
            </a:pPr>
            <a:r>
              <a:rPr sz="1600" dirty="0">
                <a:latin typeface="Times New Roman"/>
                <a:cs typeface="Times New Roman"/>
              </a:rPr>
              <a:t>NLP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module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intent/entity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detection.</a:t>
            </a:r>
            <a:endParaRPr sz="1600">
              <a:latin typeface="Times New Roman"/>
              <a:cs typeface="Times New Roman"/>
            </a:endParaRPr>
          </a:p>
          <a:p>
            <a:pPr marL="447040" indent="-351155">
              <a:lnSpc>
                <a:spcPct val="100000"/>
              </a:lnSpc>
              <a:spcBef>
                <a:spcPts val="290"/>
              </a:spcBef>
              <a:buFont typeface="Arial"/>
              <a:buChar char="●"/>
              <a:tabLst>
                <a:tab pos="447040" algn="l"/>
              </a:tabLst>
            </a:pPr>
            <a:r>
              <a:rPr sz="1600" dirty="0">
                <a:latin typeface="Times New Roman"/>
                <a:cs typeface="Times New Roman"/>
              </a:rPr>
              <a:t>Knowledge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base/database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college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information.</a:t>
            </a:r>
            <a:endParaRPr sz="1600">
              <a:latin typeface="Times New Roman"/>
              <a:cs typeface="Times New Roman"/>
            </a:endParaRPr>
          </a:p>
          <a:p>
            <a:pPr marL="447040" indent="-351155">
              <a:lnSpc>
                <a:spcPct val="100000"/>
              </a:lnSpc>
              <a:spcBef>
                <a:spcPts val="290"/>
              </a:spcBef>
              <a:buFont typeface="Arial"/>
              <a:buChar char="●"/>
              <a:tabLst>
                <a:tab pos="447040" algn="l"/>
              </a:tabLst>
            </a:pPr>
            <a:r>
              <a:rPr sz="1600" spc="-10" dirty="0">
                <a:latin typeface="Times New Roman"/>
                <a:cs typeface="Times New Roman"/>
              </a:rPr>
              <a:t>Sentiment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analysis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integration.</a:t>
            </a:r>
            <a:endParaRPr sz="1600">
              <a:latin typeface="Times New Roman"/>
              <a:cs typeface="Times New Roman"/>
            </a:endParaRPr>
          </a:p>
          <a:p>
            <a:pPr marL="447040" indent="-351155">
              <a:lnSpc>
                <a:spcPct val="100000"/>
              </a:lnSpc>
              <a:spcBef>
                <a:spcPts val="285"/>
              </a:spcBef>
              <a:buFont typeface="Arial"/>
              <a:buChar char="●"/>
              <a:tabLst>
                <a:tab pos="447040" algn="l"/>
              </a:tabLst>
            </a:pPr>
            <a:r>
              <a:rPr sz="1600" dirty="0">
                <a:latin typeface="Times New Roman"/>
                <a:cs typeface="Times New Roman"/>
              </a:rPr>
              <a:t>System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documentation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report.</a:t>
            </a:r>
            <a:endParaRPr sz="1600">
              <a:latin typeface="Times New Roman"/>
              <a:cs typeface="Times New Roman"/>
            </a:endParaRPr>
          </a:p>
          <a:p>
            <a:pPr marL="447040" indent="-351155">
              <a:lnSpc>
                <a:spcPct val="100000"/>
              </a:lnSpc>
              <a:spcBef>
                <a:spcPts val="290"/>
              </a:spcBef>
              <a:buFont typeface="Arial"/>
              <a:buChar char="●"/>
              <a:tabLst>
                <a:tab pos="447040" algn="l"/>
              </a:tabLst>
            </a:pPr>
            <a:r>
              <a:rPr sz="1600" dirty="0">
                <a:latin typeface="Times New Roman"/>
                <a:cs typeface="Times New Roman"/>
              </a:rPr>
              <a:t>UML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diagrams,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architecture,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flowcharts.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1404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imes New Roman"/>
                <a:cs typeface="Times New Roman"/>
              </a:rPr>
              <a:t>UML</a:t>
            </a:r>
            <a:r>
              <a:rPr b="0" spc="-21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475" y="1673551"/>
            <a:ext cx="8090524" cy="38742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09855" y="6249594"/>
            <a:ext cx="45402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(#)</a:t>
            </a:r>
            <a:r>
              <a:rPr sz="900" spc="21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888888"/>
                </a:solidFill>
                <a:latin typeface="Times New Roman"/>
                <a:cs typeface="Times New Roman"/>
              </a:rPr>
              <a:t>12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1409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imes New Roman"/>
                <a:cs typeface="Times New Roman"/>
              </a:rPr>
              <a:t>Flow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chart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5200" y="1406624"/>
            <a:ext cx="4218525" cy="52096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09855" y="6249594"/>
            <a:ext cx="45402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(#)</a:t>
            </a:r>
            <a:r>
              <a:rPr sz="900" spc="21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888888"/>
                </a:solidFill>
                <a:latin typeface="Times New Roman"/>
                <a:cs typeface="Times New Roman"/>
              </a:rPr>
              <a:t>12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9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imes New Roman"/>
                <a:cs typeface="Times New Roman"/>
              </a:rPr>
              <a:t>System</a:t>
            </a:r>
            <a:r>
              <a:rPr b="0" spc="-17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150" y="1612150"/>
            <a:ext cx="7267799" cy="42129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49307" y="6575701"/>
            <a:ext cx="523875" cy="189230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900" dirty="0">
                <a:solidFill>
                  <a:srgbClr val="888888"/>
                </a:solidFill>
                <a:latin typeface="Century Gothic"/>
                <a:cs typeface="Century Gothic"/>
              </a:rPr>
              <a:t>(#)</a:t>
            </a:r>
            <a:r>
              <a:rPr sz="900" spc="220" dirty="0">
                <a:solidFill>
                  <a:srgbClr val="888888"/>
                </a:solidFill>
                <a:latin typeface="Century Gothic"/>
                <a:cs typeface="Century Gothic"/>
              </a:rPr>
              <a:t> </a:t>
            </a:r>
            <a:r>
              <a:rPr sz="900" dirty="0">
                <a:solidFill>
                  <a:srgbClr val="888888"/>
                </a:solidFill>
                <a:latin typeface="Century Gothic"/>
                <a:cs typeface="Century Gothic"/>
              </a:rPr>
              <a:t>of</a:t>
            </a:r>
            <a:r>
              <a:rPr sz="900" spc="-20" dirty="0">
                <a:solidFill>
                  <a:srgbClr val="888888"/>
                </a:solidFill>
                <a:latin typeface="Century Gothic"/>
                <a:cs typeface="Century Gothic"/>
              </a:rPr>
              <a:t> </a:t>
            </a:r>
            <a:r>
              <a:rPr sz="900" spc="-25" dirty="0">
                <a:solidFill>
                  <a:srgbClr val="888888"/>
                </a:solidFill>
                <a:latin typeface="Century Gothic"/>
                <a:cs typeface="Century Gothic"/>
              </a:rPr>
              <a:t>12</a:t>
            </a:r>
            <a:endParaRPr sz="9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1409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imes New Roman"/>
                <a:cs typeface="Times New Roman"/>
              </a:rPr>
              <a:t>System</a:t>
            </a:r>
            <a:r>
              <a:rPr b="0" spc="-17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575" y="1975185"/>
            <a:ext cx="7643813" cy="45303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09855" y="6249594"/>
            <a:ext cx="45402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(#)</a:t>
            </a:r>
            <a:r>
              <a:rPr sz="900" spc="21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888888"/>
                </a:solidFill>
                <a:latin typeface="Times New Roman"/>
                <a:cs typeface="Times New Roman"/>
              </a:rPr>
              <a:t>12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1404" rIns="0" bIns="0" rtlCol="0">
            <a:spAutoFit/>
          </a:bodyPr>
          <a:lstStyle/>
          <a:p>
            <a:pPr marL="2515235" marR="5080" indent="-17399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imes New Roman"/>
                <a:cs typeface="Times New Roman"/>
              </a:rPr>
              <a:t>Requirement</a:t>
            </a:r>
            <a:r>
              <a:rPr b="0" spc="-1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Specification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spc="-50" dirty="0">
                <a:latin typeface="Times New Roman"/>
                <a:cs typeface="Times New Roman"/>
              </a:rPr>
              <a:t>&amp; </a:t>
            </a:r>
            <a:r>
              <a:rPr b="0" spc="-10" dirty="0">
                <a:latin typeface="Times New Roman"/>
                <a:cs typeface="Times New Roman"/>
              </a:rPr>
              <a:t>Validation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09855" y="6249594"/>
            <a:ext cx="45402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(#)</a:t>
            </a:r>
            <a:r>
              <a:rPr sz="900" spc="21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888888"/>
                </a:solidFill>
                <a:latin typeface="Times New Roman"/>
                <a:cs typeface="Times New Roman"/>
              </a:rPr>
              <a:t>12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7774" y="2150872"/>
            <a:ext cx="26600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7040" indent="-434340">
              <a:lnSpc>
                <a:spcPct val="100000"/>
              </a:lnSpc>
              <a:spcBef>
                <a:spcPts val="100"/>
              </a:spcBef>
              <a:buFont typeface="MS PMincho"/>
              <a:buChar char="➢"/>
              <a:tabLst>
                <a:tab pos="447040" algn="l"/>
              </a:tabLst>
            </a:pPr>
            <a:r>
              <a:rPr sz="1600" b="1" spc="-25" dirty="0">
                <a:latin typeface="Times New Roman"/>
                <a:cs typeface="Times New Roman"/>
              </a:rPr>
              <a:t>Technologies </a:t>
            </a:r>
            <a:r>
              <a:rPr sz="1600" b="1" dirty="0">
                <a:latin typeface="Times New Roman"/>
                <a:cs typeface="Times New Roman"/>
              </a:rPr>
              <a:t>/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Tools</a:t>
            </a:r>
            <a:r>
              <a:rPr sz="1600" b="1" spc="-20" dirty="0">
                <a:latin typeface="Times New Roman"/>
                <a:cs typeface="Times New Roman"/>
              </a:rPr>
              <a:t> Used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8546" y="2309368"/>
            <a:ext cx="4176395" cy="148844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60"/>
              </a:spcBef>
              <a:buFont typeface="Arial"/>
              <a:buChar char="○"/>
              <a:tabLst>
                <a:tab pos="363855" algn="l"/>
              </a:tabLst>
            </a:pPr>
            <a:r>
              <a:rPr sz="1600" spc="-20" dirty="0">
                <a:latin typeface="Times New Roman"/>
                <a:cs typeface="Times New Roman"/>
              </a:rPr>
              <a:t>Windows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7,8,10/Mac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Sierra/Linux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16</a:t>
            </a:r>
            <a:endParaRPr sz="1600">
              <a:latin typeface="Times New Roman"/>
              <a:cs typeface="Times New Roman"/>
            </a:endParaRPr>
          </a:p>
          <a:p>
            <a:pPr marL="363855" indent="-351155">
              <a:lnSpc>
                <a:spcPct val="100000"/>
              </a:lnSpc>
              <a:spcBef>
                <a:spcPts val="960"/>
              </a:spcBef>
              <a:buFont typeface="Arial"/>
              <a:buChar char="○"/>
              <a:tabLst>
                <a:tab pos="363855" algn="l"/>
              </a:tabLst>
            </a:pPr>
            <a:r>
              <a:rPr sz="1600" dirty="0">
                <a:latin typeface="Times New Roman"/>
                <a:cs typeface="Times New Roman"/>
              </a:rPr>
              <a:t>Python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3.8</a:t>
            </a:r>
            <a:endParaRPr sz="1600">
              <a:latin typeface="Times New Roman"/>
              <a:cs typeface="Times New Roman"/>
            </a:endParaRPr>
          </a:p>
          <a:p>
            <a:pPr marL="363855" indent="-351155">
              <a:lnSpc>
                <a:spcPct val="100000"/>
              </a:lnSpc>
              <a:spcBef>
                <a:spcPts val="960"/>
              </a:spcBef>
              <a:buFont typeface="Arial"/>
              <a:buChar char="○"/>
              <a:tabLst>
                <a:tab pos="363855" algn="l"/>
              </a:tabLst>
            </a:pPr>
            <a:r>
              <a:rPr sz="1600" spc="-20" dirty="0">
                <a:latin typeface="Times New Roman"/>
                <a:cs typeface="Times New Roman"/>
              </a:rPr>
              <a:t>Visual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Studio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Code</a:t>
            </a:r>
            <a:endParaRPr sz="1600">
              <a:latin typeface="Times New Roman"/>
              <a:cs typeface="Times New Roman"/>
            </a:endParaRPr>
          </a:p>
          <a:p>
            <a:pPr marL="363855" indent="-351155">
              <a:lnSpc>
                <a:spcPct val="100000"/>
              </a:lnSpc>
              <a:spcBef>
                <a:spcPts val="960"/>
              </a:spcBef>
              <a:buFont typeface="Arial"/>
              <a:buChar char="○"/>
              <a:tabLst>
                <a:tab pos="363855" algn="l"/>
              </a:tabLst>
            </a:pPr>
            <a:r>
              <a:rPr sz="1600" dirty="0">
                <a:latin typeface="Times New Roman"/>
                <a:cs typeface="Times New Roman"/>
              </a:rPr>
              <a:t>Natural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Language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Processing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8446" y="3915155"/>
            <a:ext cx="5235575" cy="243840"/>
          </a:xfrm>
          <a:prstGeom prst="rect">
            <a:avLst/>
          </a:prstGeom>
          <a:solidFill>
            <a:srgbClr val="CEE1E7"/>
          </a:solidFill>
        </p:spPr>
        <p:txBody>
          <a:bodyPr vert="horz" wrap="square" lIns="0" tIns="17145" rIns="0" bIns="0" rtlCol="0">
            <a:spAutoFit/>
          </a:bodyPr>
          <a:lstStyle/>
          <a:p>
            <a:pPr marL="351155" indent="-35115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SzPct val="114285"/>
              <a:buFont typeface="Arial"/>
              <a:buChar char="■"/>
              <a:tabLst>
                <a:tab pos="351155" algn="l"/>
              </a:tabLst>
            </a:pPr>
            <a:r>
              <a:rPr sz="1400" dirty="0">
                <a:solidFill>
                  <a:srgbClr val="202124"/>
                </a:solidFill>
                <a:latin typeface="Times New Roman"/>
                <a:cs typeface="Times New Roman"/>
              </a:rPr>
              <a:t>The</a:t>
            </a:r>
            <a:r>
              <a:rPr sz="1400" spc="-3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02124"/>
                </a:solidFill>
                <a:latin typeface="Times New Roman"/>
                <a:cs typeface="Times New Roman"/>
              </a:rPr>
              <a:t>most</a:t>
            </a:r>
            <a:r>
              <a:rPr sz="1400" spc="-3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02124"/>
                </a:solidFill>
                <a:latin typeface="Times New Roman"/>
                <a:cs typeface="Times New Roman"/>
              </a:rPr>
              <a:t>basic</a:t>
            </a:r>
            <a:r>
              <a:rPr sz="1400" spc="-3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02124"/>
                </a:solidFill>
                <a:latin typeface="Times New Roman"/>
                <a:cs typeface="Times New Roman"/>
              </a:rPr>
              <a:t>and</a:t>
            </a:r>
            <a:r>
              <a:rPr sz="1400" spc="-2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02124"/>
                </a:solidFill>
                <a:latin typeface="Times New Roman"/>
                <a:cs typeface="Times New Roman"/>
              </a:rPr>
              <a:t>useful</a:t>
            </a:r>
            <a:r>
              <a:rPr sz="1400" spc="-3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202124"/>
                </a:solidFill>
                <a:latin typeface="Times New Roman"/>
                <a:cs typeface="Times New Roman"/>
              </a:rPr>
              <a:t>technique</a:t>
            </a:r>
            <a:r>
              <a:rPr sz="1400" spc="-3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02124"/>
                </a:solidFill>
                <a:latin typeface="Times New Roman"/>
                <a:cs typeface="Times New Roman"/>
              </a:rPr>
              <a:t>in</a:t>
            </a:r>
            <a:r>
              <a:rPr sz="1400" spc="-2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02124"/>
                </a:solidFill>
                <a:latin typeface="Times New Roman"/>
                <a:cs typeface="Times New Roman"/>
              </a:rPr>
              <a:t>NLP</a:t>
            </a:r>
            <a:r>
              <a:rPr sz="1400" spc="-8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02124"/>
                </a:solidFill>
                <a:latin typeface="Times New Roman"/>
                <a:cs typeface="Times New Roman"/>
              </a:rPr>
              <a:t>is</a:t>
            </a:r>
            <a:r>
              <a:rPr sz="1400" spc="-3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02124"/>
                </a:solidFill>
                <a:latin typeface="Times New Roman"/>
                <a:cs typeface="Times New Roman"/>
              </a:rPr>
              <a:t>extracting</a:t>
            </a:r>
            <a:r>
              <a:rPr sz="1400" spc="-3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02124"/>
                </a:solidFill>
                <a:latin typeface="Times New Roman"/>
                <a:cs typeface="Times New Roman"/>
              </a:rPr>
              <a:t>the</a:t>
            </a:r>
            <a:r>
              <a:rPr sz="1400" spc="-3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202124"/>
                </a:solidFill>
                <a:latin typeface="Times New Roman"/>
                <a:cs typeface="Times New Roman"/>
              </a:rPr>
              <a:t>entities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99750" y="4280915"/>
            <a:ext cx="755650" cy="213360"/>
          </a:xfrm>
          <a:prstGeom prst="rect">
            <a:avLst/>
          </a:prstGeom>
          <a:solidFill>
            <a:srgbClr val="CEE1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dirty="0">
                <a:solidFill>
                  <a:srgbClr val="202124"/>
                </a:solidFill>
                <a:latin typeface="Times New Roman"/>
                <a:cs typeface="Times New Roman"/>
              </a:rPr>
              <a:t>in</a:t>
            </a:r>
            <a:r>
              <a:rPr sz="1400" spc="-1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02124"/>
                </a:solidFill>
                <a:latin typeface="Times New Roman"/>
                <a:cs typeface="Times New Roman"/>
              </a:rPr>
              <a:t>the</a:t>
            </a:r>
            <a:r>
              <a:rPr sz="1400" spc="-2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202124"/>
                </a:solidFill>
                <a:latin typeface="Times New Roman"/>
                <a:cs typeface="Times New Roman"/>
              </a:rPr>
              <a:t>text.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8446" y="4600955"/>
            <a:ext cx="2115185" cy="243840"/>
          </a:xfrm>
          <a:prstGeom prst="rect">
            <a:avLst/>
          </a:prstGeom>
          <a:solidFill>
            <a:srgbClr val="CEE1E7"/>
          </a:solidFill>
        </p:spPr>
        <p:txBody>
          <a:bodyPr vert="horz" wrap="square" lIns="0" tIns="17145" rIns="0" bIns="0" rtlCol="0">
            <a:spAutoFit/>
          </a:bodyPr>
          <a:lstStyle/>
          <a:p>
            <a:pPr marL="351155" indent="-35115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SzPct val="114285"/>
              <a:buFont typeface="Arial"/>
              <a:buChar char="■"/>
              <a:tabLst>
                <a:tab pos="351155" algn="l"/>
                <a:tab pos="614680" algn="l"/>
              </a:tabLst>
            </a:pPr>
            <a:r>
              <a:rPr sz="1400" spc="-50" dirty="0">
                <a:solidFill>
                  <a:srgbClr val="202124"/>
                </a:solidFill>
                <a:latin typeface="Times New Roman"/>
                <a:cs typeface="Times New Roman"/>
              </a:rPr>
              <a:t>o</a:t>
            </a:r>
            <a:r>
              <a:rPr sz="1400" dirty="0">
                <a:solidFill>
                  <a:srgbClr val="202124"/>
                </a:solidFill>
                <a:latin typeface="Times New Roman"/>
                <a:cs typeface="Times New Roman"/>
              </a:rPr>
              <a:t>	</a:t>
            </a:r>
            <a:r>
              <a:rPr sz="1400" spc="-20" dirty="0">
                <a:solidFill>
                  <a:srgbClr val="202124"/>
                </a:solidFill>
                <a:latin typeface="Times New Roman"/>
                <a:cs typeface="Times New Roman"/>
              </a:rPr>
              <a:t>Text</a:t>
            </a:r>
            <a:r>
              <a:rPr sz="1400" spc="-5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202124"/>
                </a:solidFill>
                <a:latin typeface="Times New Roman"/>
                <a:cs typeface="Times New Roman"/>
              </a:rPr>
              <a:t>Summarization.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7700" marR="5080" indent="-17399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imes New Roman"/>
                <a:cs typeface="Times New Roman"/>
              </a:rPr>
              <a:t>Requirement</a:t>
            </a:r>
            <a:r>
              <a:rPr b="0" spc="-1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Specification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spc="-50" dirty="0">
                <a:latin typeface="Times New Roman"/>
                <a:cs typeface="Times New Roman"/>
              </a:rPr>
              <a:t>&amp; </a:t>
            </a:r>
            <a:r>
              <a:rPr b="0" spc="-10" dirty="0">
                <a:latin typeface="Times New Roman"/>
                <a:cs typeface="Times New Roman"/>
              </a:rPr>
              <a:t>Validation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35694" y="6249606"/>
            <a:ext cx="4025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11</a:t>
            </a:r>
            <a:r>
              <a:rPr sz="900" spc="-2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2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888888"/>
                </a:solidFill>
                <a:latin typeface="Times New Roman"/>
                <a:cs typeface="Times New Roman"/>
              </a:rPr>
              <a:t>12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52360" y="6265481"/>
            <a:ext cx="22618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Dept</a:t>
            </a:r>
            <a:r>
              <a:rPr sz="900" spc="-2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CSE.,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SOE-Dayananda</a:t>
            </a:r>
            <a:r>
              <a:rPr sz="900" spc="-1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Sagar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University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63825" y="6267861"/>
            <a:ext cx="82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888888"/>
                </a:solidFill>
                <a:latin typeface="Times New Roman"/>
                <a:cs typeface="Times New Roman"/>
              </a:rPr>
              <a:t>*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46262" y="2074672"/>
            <a:ext cx="516826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100"/>
              </a:spcBef>
              <a:buClr>
                <a:srgbClr val="353535"/>
              </a:buClr>
              <a:buFont typeface="MS PMincho"/>
              <a:buChar char="➢"/>
              <a:tabLst>
                <a:tab pos="440690" algn="l"/>
              </a:tabLst>
            </a:pP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1600" spc="-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Requirements</a:t>
            </a:r>
            <a:endParaRPr sz="1600" dirty="0">
              <a:latin typeface="Times New Roman"/>
              <a:cs typeface="Times New Roman"/>
            </a:endParaRPr>
          </a:p>
          <a:p>
            <a:pPr marL="897890" lvl="1" indent="-351155">
              <a:lnSpc>
                <a:spcPct val="100000"/>
              </a:lnSpc>
              <a:buClr>
                <a:srgbClr val="353535"/>
              </a:buClr>
              <a:buFont typeface="Arial"/>
              <a:buChar char="○"/>
              <a:tabLst>
                <a:tab pos="897890" algn="l"/>
              </a:tabLst>
            </a:pP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sz="16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Requirement</a:t>
            </a:r>
            <a:endParaRPr sz="1600" dirty="0">
              <a:latin typeface="Times New Roman"/>
              <a:cs typeface="Times New Roman"/>
            </a:endParaRPr>
          </a:p>
          <a:p>
            <a:pPr marL="1355090" lvl="2" indent="-351155">
              <a:lnSpc>
                <a:spcPct val="100000"/>
              </a:lnSpc>
              <a:buClr>
                <a:srgbClr val="353535"/>
              </a:buClr>
              <a:buFont typeface="Arial"/>
              <a:buChar char="■"/>
              <a:tabLst>
                <a:tab pos="1355090" algn="l"/>
              </a:tabLst>
            </a:pP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Windows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7,8,10/Mac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OS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high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Sierra/Linux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16</a:t>
            </a:r>
            <a:endParaRPr sz="1600" dirty="0">
              <a:latin typeface="Times New Roman"/>
              <a:cs typeface="Times New Roman"/>
            </a:endParaRPr>
          </a:p>
          <a:p>
            <a:pPr marL="1355090" lvl="2" indent="-351155">
              <a:lnSpc>
                <a:spcPct val="100000"/>
              </a:lnSpc>
              <a:buClr>
                <a:srgbClr val="353535"/>
              </a:buClr>
              <a:buFont typeface="Arial"/>
              <a:buChar char="■"/>
              <a:tabLst>
                <a:tab pos="1355090" algn="l"/>
              </a:tabLst>
            </a:pP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Python</a:t>
            </a:r>
            <a:r>
              <a:rPr sz="16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3.8</a:t>
            </a:r>
            <a:endParaRPr sz="1600" dirty="0">
              <a:latin typeface="Times New Roman"/>
              <a:cs typeface="Times New Roman"/>
            </a:endParaRPr>
          </a:p>
          <a:p>
            <a:pPr marL="1355090" lvl="2" indent="-351155">
              <a:lnSpc>
                <a:spcPct val="100000"/>
              </a:lnSpc>
              <a:buClr>
                <a:srgbClr val="353535"/>
              </a:buClr>
              <a:buFont typeface="Arial"/>
              <a:buChar char="■"/>
              <a:tabLst>
                <a:tab pos="1355090" algn="l"/>
              </a:tabLst>
            </a:pP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Visual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Studio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Code</a:t>
            </a:r>
            <a:endParaRPr sz="1600" dirty="0">
              <a:latin typeface="Times New Roman"/>
              <a:cs typeface="Times New Roman"/>
            </a:endParaRPr>
          </a:p>
          <a:p>
            <a:pPr marL="897890" lvl="1" indent="-351155">
              <a:lnSpc>
                <a:spcPct val="100000"/>
              </a:lnSpc>
              <a:buClr>
                <a:srgbClr val="353535"/>
              </a:buClr>
              <a:buFont typeface="Arial"/>
              <a:buChar char="○"/>
              <a:tabLst>
                <a:tab pos="897890" algn="l"/>
              </a:tabLst>
            </a:pP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Hardware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Requirement</a:t>
            </a:r>
            <a:endParaRPr sz="1600" dirty="0">
              <a:latin typeface="Times New Roman"/>
              <a:cs typeface="Times New Roman"/>
            </a:endParaRPr>
          </a:p>
          <a:p>
            <a:pPr marL="1355090" lvl="2" indent="-351155">
              <a:lnSpc>
                <a:spcPct val="100000"/>
              </a:lnSpc>
              <a:buClr>
                <a:srgbClr val="353535"/>
              </a:buClr>
              <a:buFont typeface="Arial"/>
              <a:buChar char="■"/>
              <a:tabLst>
                <a:tab pos="1355090" algn="l"/>
              </a:tabLst>
            </a:pP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Desktop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Laptop</a:t>
            </a:r>
            <a:endParaRPr sz="1600" dirty="0">
              <a:latin typeface="Times New Roman"/>
              <a:cs typeface="Times New Roman"/>
            </a:endParaRPr>
          </a:p>
          <a:p>
            <a:pPr marL="1355090" lvl="2" indent="-351155">
              <a:lnSpc>
                <a:spcPct val="100000"/>
              </a:lnSpc>
              <a:buClr>
                <a:srgbClr val="353535"/>
              </a:buClr>
              <a:buFont typeface="Arial"/>
              <a:buChar char="■"/>
              <a:tabLst>
                <a:tab pos="1355090" algn="l"/>
              </a:tabLst>
            </a:pP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4GB</a:t>
            </a:r>
            <a:r>
              <a:rPr sz="1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RAM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16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128GBHDD</a:t>
            </a:r>
            <a:endParaRPr sz="1600" dirty="0">
              <a:latin typeface="Times New Roman"/>
              <a:cs typeface="Times New Roman"/>
            </a:endParaRPr>
          </a:p>
          <a:p>
            <a:pPr marL="440690" indent="-427990">
              <a:lnSpc>
                <a:spcPct val="100000"/>
              </a:lnSpc>
              <a:buClr>
                <a:srgbClr val="353535"/>
              </a:buClr>
              <a:buFont typeface="MS PMincho"/>
              <a:buChar char="➢"/>
              <a:tabLst>
                <a:tab pos="440690" algn="l"/>
                <a:tab pos="897890" algn="l"/>
              </a:tabLst>
            </a:pPr>
            <a:r>
              <a:rPr sz="1600" spc="-50" dirty="0">
                <a:solidFill>
                  <a:srgbClr val="404040"/>
                </a:solidFill>
                <a:latin typeface="Times New Roman"/>
                <a:cs typeface="Times New Roman"/>
              </a:rPr>
              <a:t>»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	Python</a:t>
            </a:r>
            <a:r>
              <a:rPr sz="16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3.8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1405" rIns="0" bIns="0" rtlCol="0">
            <a:spAutoFit/>
          </a:bodyPr>
          <a:lstStyle/>
          <a:p>
            <a:pPr marL="2506345" marR="5080" indent="-17399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imes New Roman"/>
                <a:cs typeface="Times New Roman"/>
              </a:rPr>
              <a:t>Requirement</a:t>
            </a:r>
            <a:r>
              <a:rPr b="0" spc="-1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Specification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spc="-50" dirty="0">
                <a:latin typeface="Times New Roman"/>
                <a:cs typeface="Times New Roman"/>
              </a:rPr>
              <a:t>&amp; </a:t>
            </a:r>
            <a:r>
              <a:rPr b="0" spc="-10" dirty="0">
                <a:latin typeface="Times New Roman"/>
                <a:cs typeface="Times New Roman"/>
              </a:rPr>
              <a:t>Validation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09855" y="6249594"/>
            <a:ext cx="45402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(#)</a:t>
            </a:r>
            <a:r>
              <a:rPr sz="900" spc="21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888888"/>
                </a:solidFill>
                <a:latin typeface="Times New Roman"/>
                <a:cs typeface="Times New Roman"/>
              </a:rPr>
              <a:t>12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2475" y="1761521"/>
            <a:ext cx="3980815" cy="3787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System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Implementation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Plan</a:t>
            </a:r>
            <a:endParaRPr sz="1600">
              <a:latin typeface="Times New Roman"/>
              <a:cs typeface="Times New Roman"/>
            </a:endParaRPr>
          </a:p>
          <a:p>
            <a:pPr marL="926465" indent="-427990">
              <a:lnSpc>
                <a:spcPct val="100000"/>
              </a:lnSpc>
              <a:spcBef>
                <a:spcPts val="1485"/>
              </a:spcBef>
              <a:buFont typeface="MS PMincho"/>
              <a:buChar char="➢"/>
              <a:tabLst>
                <a:tab pos="926465" algn="l"/>
              </a:tabLst>
            </a:pPr>
            <a:r>
              <a:rPr sz="1600" dirty="0">
                <a:latin typeface="Times New Roman"/>
                <a:cs typeface="Times New Roman"/>
              </a:rPr>
              <a:t>Front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end</a:t>
            </a:r>
            <a:endParaRPr sz="1600">
              <a:latin typeface="Times New Roman"/>
              <a:cs typeface="Times New Roman"/>
            </a:endParaRPr>
          </a:p>
          <a:p>
            <a:pPr marL="2755265" lvl="1" indent="-351155">
              <a:lnSpc>
                <a:spcPct val="100000"/>
              </a:lnSpc>
              <a:spcBef>
                <a:spcPts val="290"/>
              </a:spcBef>
              <a:buFont typeface="Arial"/>
              <a:buChar char="○"/>
              <a:tabLst>
                <a:tab pos="2755265" algn="l"/>
              </a:tabLst>
            </a:pPr>
            <a:r>
              <a:rPr sz="1600" spc="-20" dirty="0">
                <a:latin typeface="Times New Roman"/>
                <a:cs typeface="Times New Roman"/>
              </a:rPr>
              <a:t>HTML</a:t>
            </a:r>
            <a:endParaRPr sz="1600">
              <a:latin typeface="Times New Roman"/>
              <a:cs typeface="Times New Roman"/>
            </a:endParaRPr>
          </a:p>
          <a:p>
            <a:pPr marL="2755265" lvl="1" indent="-351155">
              <a:lnSpc>
                <a:spcPct val="100000"/>
              </a:lnSpc>
              <a:spcBef>
                <a:spcPts val="285"/>
              </a:spcBef>
              <a:buFont typeface="Arial"/>
              <a:buChar char="○"/>
              <a:tabLst>
                <a:tab pos="2755265" algn="l"/>
              </a:tabLst>
            </a:pPr>
            <a:r>
              <a:rPr sz="1600" spc="-25" dirty="0">
                <a:latin typeface="Times New Roman"/>
                <a:cs typeface="Times New Roman"/>
              </a:rPr>
              <a:t>CSS</a:t>
            </a:r>
            <a:endParaRPr sz="1600">
              <a:latin typeface="Times New Roman"/>
              <a:cs typeface="Times New Roman"/>
            </a:endParaRPr>
          </a:p>
          <a:p>
            <a:pPr marL="926465" indent="-427990">
              <a:lnSpc>
                <a:spcPct val="100000"/>
              </a:lnSpc>
              <a:spcBef>
                <a:spcPts val="290"/>
              </a:spcBef>
              <a:buFont typeface="MS PMincho"/>
              <a:buChar char="➢"/>
              <a:tabLst>
                <a:tab pos="926465" algn="l"/>
              </a:tabLst>
            </a:pPr>
            <a:r>
              <a:rPr sz="1600" dirty="0">
                <a:latin typeface="Times New Roman"/>
                <a:cs typeface="Times New Roman"/>
              </a:rPr>
              <a:t>Back </a:t>
            </a:r>
            <a:r>
              <a:rPr sz="1600" spc="-25" dirty="0">
                <a:latin typeface="Times New Roman"/>
                <a:cs typeface="Times New Roman"/>
              </a:rPr>
              <a:t>end</a:t>
            </a:r>
            <a:endParaRPr sz="1600">
              <a:latin typeface="Times New Roman"/>
              <a:cs typeface="Times New Roman"/>
            </a:endParaRPr>
          </a:p>
          <a:p>
            <a:pPr marL="2755265" lvl="1" indent="-351155">
              <a:lnSpc>
                <a:spcPct val="100000"/>
              </a:lnSpc>
              <a:spcBef>
                <a:spcPts val="290"/>
              </a:spcBef>
              <a:buFont typeface="Arial"/>
              <a:buChar char="○"/>
              <a:tabLst>
                <a:tab pos="2755265" algn="l"/>
              </a:tabLst>
            </a:pPr>
            <a:r>
              <a:rPr sz="1600" spc="-10" dirty="0">
                <a:latin typeface="Times New Roman"/>
                <a:cs typeface="Times New Roman"/>
              </a:rPr>
              <a:t>Python</a:t>
            </a:r>
            <a:endParaRPr sz="1600">
              <a:latin typeface="Times New Roman"/>
              <a:cs typeface="Times New Roman"/>
            </a:endParaRPr>
          </a:p>
          <a:p>
            <a:pPr marL="2755265" lvl="1" indent="-351155">
              <a:lnSpc>
                <a:spcPct val="100000"/>
              </a:lnSpc>
              <a:spcBef>
                <a:spcPts val="285"/>
              </a:spcBef>
              <a:buFont typeface="Arial"/>
              <a:buChar char="○"/>
              <a:tabLst>
                <a:tab pos="2755265" algn="l"/>
              </a:tabLst>
            </a:pPr>
            <a:r>
              <a:rPr sz="1600" spc="-10" dirty="0">
                <a:latin typeface="Times New Roman"/>
                <a:cs typeface="Times New Roman"/>
              </a:rPr>
              <a:t>SQLite</a:t>
            </a:r>
            <a:endParaRPr sz="1600">
              <a:latin typeface="Times New Roman"/>
              <a:cs typeface="Times New Roman"/>
            </a:endParaRPr>
          </a:p>
          <a:p>
            <a:pPr marL="926465" indent="-427990">
              <a:lnSpc>
                <a:spcPct val="100000"/>
              </a:lnSpc>
              <a:spcBef>
                <a:spcPts val="290"/>
              </a:spcBef>
              <a:buFont typeface="MS PMincho"/>
              <a:buChar char="➢"/>
              <a:tabLst>
                <a:tab pos="926465" algn="l"/>
              </a:tabLst>
            </a:pPr>
            <a:r>
              <a:rPr sz="1600" spc="-10" dirty="0">
                <a:latin typeface="Times New Roman"/>
                <a:cs typeface="Times New Roman"/>
              </a:rPr>
              <a:t>Framework</a:t>
            </a:r>
            <a:endParaRPr sz="1600">
              <a:latin typeface="Times New Roman"/>
              <a:cs typeface="Times New Roman"/>
            </a:endParaRPr>
          </a:p>
          <a:p>
            <a:pPr marL="2755265" lvl="1" indent="-351155">
              <a:lnSpc>
                <a:spcPct val="100000"/>
              </a:lnSpc>
              <a:spcBef>
                <a:spcPts val="290"/>
              </a:spcBef>
              <a:buFont typeface="Arial"/>
              <a:buChar char="○"/>
              <a:tabLst>
                <a:tab pos="2755265" algn="l"/>
              </a:tabLst>
            </a:pPr>
            <a:r>
              <a:rPr sz="1600" spc="-10" dirty="0">
                <a:latin typeface="Times New Roman"/>
                <a:cs typeface="Times New Roman"/>
              </a:rPr>
              <a:t>Flask</a:t>
            </a:r>
            <a:endParaRPr sz="1600">
              <a:latin typeface="Times New Roman"/>
              <a:cs typeface="Times New Roman"/>
            </a:endParaRPr>
          </a:p>
          <a:p>
            <a:pPr marL="926465" indent="-427990">
              <a:lnSpc>
                <a:spcPct val="100000"/>
              </a:lnSpc>
              <a:spcBef>
                <a:spcPts val="285"/>
              </a:spcBef>
              <a:buFont typeface="MS PMincho"/>
              <a:buChar char="➢"/>
              <a:tabLst>
                <a:tab pos="926465" algn="l"/>
              </a:tabLst>
            </a:pPr>
            <a:r>
              <a:rPr sz="1600" dirty="0">
                <a:latin typeface="Times New Roman"/>
                <a:cs typeface="Times New Roman"/>
              </a:rPr>
              <a:t>Packages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templates</a:t>
            </a:r>
            <a:endParaRPr sz="1600">
              <a:latin typeface="Times New Roman"/>
              <a:cs typeface="Times New Roman"/>
            </a:endParaRPr>
          </a:p>
          <a:p>
            <a:pPr marL="2755265" lvl="1" indent="-351155">
              <a:lnSpc>
                <a:spcPct val="100000"/>
              </a:lnSpc>
              <a:spcBef>
                <a:spcPts val="290"/>
              </a:spcBef>
              <a:buFont typeface="Arial"/>
              <a:buChar char="○"/>
              <a:tabLst>
                <a:tab pos="2755265" algn="l"/>
              </a:tabLst>
            </a:pPr>
            <a:r>
              <a:rPr sz="1600" spc="-10" dirty="0">
                <a:latin typeface="Times New Roman"/>
                <a:cs typeface="Times New Roman"/>
              </a:rPr>
              <a:t>NLP(nltk)</a:t>
            </a:r>
            <a:endParaRPr sz="1600">
              <a:latin typeface="Times New Roman"/>
              <a:cs typeface="Times New Roman"/>
            </a:endParaRPr>
          </a:p>
          <a:p>
            <a:pPr marL="2755265" lvl="1" indent="-351155">
              <a:lnSpc>
                <a:spcPct val="100000"/>
              </a:lnSpc>
              <a:spcBef>
                <a:spcPts val="285"/>
              </a:spcBef>
              <a:buFont typeface="Arial"/>
              <a:buChar char="○"/>
              <a:tabLst>
                <a:tab pos="2755265" algn="l"/>
              </a:tabLst>
            </a:pPr>
            <a:r>
              <a:rPr sz="1600" spc="-10" dirty="0">
                <a:latin typeface="Times New Roman"/>
                <a:cs typeface="Times New Roman"/>
              </a:rPr>
              <a:t>Scikit-learn</a:t>
            </a:r>
            <a:endParaRPr sz="1600">
              <a:latin typeface="Times New Roman"/>
              <a:cs typeface="Times New Roman"/>
            </a:endParaRPr>
          </a:p>
          <a:p>
            <a:pPr marL="2755265" lvl="1" indent="-351155">
              <a:lnSpc>
                <a:spcPct val="100000"/>
              </a:lnSpc>
              <a:spcBef>
                <a:spcPts val="290"/>
              </a:spcBef>
              <a:buFont typeface="Arial"/>
              <a:buChar char="○"/>
              <a:tabLst>
                <a:tab pos="2755265" algn="l"/>
              </a:tabLst>
            </a:pPr>
            <a:r>
              <a:rPr sz="1600" dirty="0">
                <a:latin typeface="Times New Roman"/>
                <a:cs typeface="Times New Roman"/>
              </a:rPr>
              <a:t>Jinja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templates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1403" rIns="0" bIns="0" rtlCol="0">
            <a:spAutoFit/>
          </a:bodyPr>
          <a:lstStyle/>
          <a:p>
            <a:pPr marL="2472690" marR="5080" indent="-17399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imes New Roman"/>
                <a:cs typeface="Times New Roman"/>
              </a:rPr>
              <a:t>Requirement</a:t>
            </a:r>
            <a:r>
              <a:rPr b="0" spc="-1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Specification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spc="-50" dirty="0">
                <a:latin typeface="Times New Roman"/>
                <a:cs typeface="Times New Roman"/>
              </a:rPr>
              <a:t>&amp; </a:t>
            </a:r>
            <a:r>
              <a:rPr b="0" spc="-10" dirty="0">
                <a:latin typeface="Times New Roman"/>
                <a:cs typeface="Times New Roman"/>
              </a:rPr>
              <a:t>Validation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5440" y="2150872"/>
            <a:ext cx="3881754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Analysis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Models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Modules</a:t>
            </a:r>
            <a:endParaRPr sz="1600">
              <a:latin typeface="Times New Roman"/>
              <a:cs typeface="Times New Roman"/>
            </a:endParaRPr>
          </a:p>
          <a:p>
            <a:pPr marL="12700" marR="1013460">
              <a:lnSpc>
                <a:spcPct val="212500"/>
              </a:lnSpc>
            </a:pPr>
            <a:r>
              <a:rPr sz="1600" dirty="0">
                <a:latin typeface="Times New Roman"/>
                <a:cs typeface="Times New Roman"/>
              </a:rPr>
              <a:t>Module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1: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Dataset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preprocessing </a:t>
            </a:r>
            <a:r>
              <a:rPr sz="1600" dirty="0">
                <a:latin typeface="Times New Roman"/>
                <a:cs typeface="Times New Roman"/>
              </a:rPr>
              <a:t>Module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2: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Fitting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NLP</a:t>
            </a:r>
            <a:r>
              <a:rPr sz="1600" b="1" spc="-10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model </a:t>
            </a:r>
            <a:r>
              <a:rPr sz="1600" dirty="0">
                <a:latin typeface="Times New Roman"/>
                <a:cs typeface="Times New Roman"/>
              </a:rPr>
              <a:t>Module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3: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Front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end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design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Module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4:</a:t>
            </a:r>
            <a:r>
              <a:rPr sz="1600" spc="3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Front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end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-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back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end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connectivity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Module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5:</a:t>
            </a:r>
            <a:r>
              <a:rPr sz="1600" spc="3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Handling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unanswered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questions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70273" y="6058332"/>
            <a:ext cx="533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indent="-1524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88888"/>
                </a:solidFill>
                <a:latin typeface="Times New Roman"/>
                <a:cs typeface="Times New Roman"/>
              </a:rPr>
              <a:t>(#)</a:t>
            </a:r>
            <a:r>
              <a:rPr sz="1600" spc="3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888888"/>
                </a:solidFill>
                <a:latin typeface="Times New Roman"/>
                <a:cs typeface="Times New Roman"/>
              </a:rPr>
              <a:t>of 12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A5BA-3FFF-8D87-00ED-5BCE1273E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764365"/>
            <a:ext cx="2438400" cy="553998"/>
          </a:xfrm>
        </p:spPr>
        <p:txBody>
          <a:bodyPr/>
          <a:lstStyle/>
          <a:p>
            <a:r>
              <a:rPr lang="en-IN" dirty="0"/>
              <a:t>Algorithm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EB17D-7925-5BA1-0561-461D5ACF4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76400"/>
            <a:ext cx="8166100" cy="443198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Algorithm used is NLP i.e. Natural Language Processing. In that tokenization, lemmatization and stop words removal techniques are used.</a:t>
            </a:r>
          </a:p>
          <a:p>
            <a:endParaRPr lang="en-IN" dirty="0"/>
          </a:p>
          <a:p>
            <a:r>
              <a:rPr lang="en-IN" dirty="0"/>
              <a:t>Step 1: Start. </a:t>
            </a:r>
          </a:p>
          <a:p>
            <a:endParaRPr lang="en-IN" dirty="0"/>
          </a:p>
          <a:p>
            <a:r>
              <a:rPr lang="en-IN" dirty="0"/>
              <a:t>Step 2: Get the input query from the user. </a:t>
            </a:r>
          </a:p>
          <a:p>
            <a:endParaRPr lang="en-IN" dirty="0"/>
          </a:p>
          <a:p>
            <a:r>
              <a:rPr lang="en-IN" dirty="0"/>
              <a:t>Step 3: The query is pre-processed. E.g. suppose there is this query “what are the project domains for CSE fourth year major projects.” So, we are going to remove these stop words like “are”, “the” using pre-processing technique.</a:t>
            </a:r>
          </a:p>
          <a:p>
            <a:endParaRPr lang="en-IN" dirty="0"/>
          </a:p>
          <a:p>
            <a:r>
              <a:rPr lang="en-IN" dirty="0"/>
              <a:t> Step 4: Fetch the remaining keywords from the query. </a:t>
            </a:r>
          </a:p>
          <a:p>
            <a:endParaRPr lang="en-IN" dirty="0"/>
          </a:p>
          <a:p>
            <a:r>
              <a:rPr lang="en-IN" dirty="0"/>
              <a:t>Step 5: Match the fetched keywords with the keywords in Knowledge base, and provide an appropriate response.</a:t>
            </a:r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9438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6C371-02FE-57E6-5D6E-126CF92FE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05506"/>
            <a:ext cx="8166100" cy="3046988"/>
          </a:xfrm>
        </p:spPr>
        <p:txBody>
          <a:bodyPr/>
          <a:lstStyle/>
          <a:p>
            <a:r>
              <a:rPr lang="en-IN" dirty="0"/>
              <a:t> Step 6: Further the Database module is used to call proper services using entity information to find proper data.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Step 7: The keywords will be matched with the help of keyword matching algorithm.</a:t>
            </a:r>
          </a:p>
          <a:p>
            <a:endParaRPr lang="en-IN" dirty="0"/>
          </a:p>
          <a:p>
            <a:r>
              <a:rPr lang="en-IN" dirty="0"/>
              <a:t>Step 8: It returns the query response to the bot. </a:t>
            </a:r>
          </a:p>
          <a:p>
            <a:endParaRPr lang="en-IN" dirty="0"/>
          </a:p>
          <a:p>
            <a:r>
              <a:rPr lang="en-IN" dirty="0"/>
              <a:t>Step 9: Chat-bot packages the data into proper response for display by the client. </a:t>
            </a:r>
          </a:p>
          <a:p>
            <a:endParaRPr lang="en-IN" dirty="0"/>
          </a:p>
          <a:p>
            <a:r>
              <a:rPr lang="en-IN" dirty="0"/>
              <a:t>Step 10: Exit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33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39900" y="586549"/>
            <a:ext cx="5593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imes New Roman"/>
                <a:cs typeface="Times New Roman"/>
              </a:rPr>
              <a:t>Innovation</a:t>
            </a:r>
            <a:r>
              <a:rPr b="0" spc="-1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&amp;</a:t>
            </a:r>
            <a:r>
              <a:rPr b="0" spc="-114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Potential</a:t>
            </a:r>
            <a:r>
              <a:rPr b="0" spc="-11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Impact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33574" y="6237161"/>
            <a:ext cx="406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14</a:t>
            </a:r>
            <a:r>
              <a:rPr sz="900" spc="-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888888"/>
                </a:solidFill>
                <a:latin typeface="Times New Roman"/>
                <a:cs typeface="Times New Roman"/>
              </a:rPr>
              <a:t>12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3375" y="1626970"/>
            <a:ext cx="5672455" cy="2823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386080">
              <a:lnSpc>
                <a:spcPct val="100000"/>
              </a:lnSpc>
              <a:spcBef>
                <a:spcPts val="100"/>
              </a:spcBef>
              <a:buClr>
                <a:srgbClr val="353535"/>
              </a:buClr>
              <a:buChar char="□"/>
              <a:tabLst>
                <a:tab pos="469265" algn="l"/>
              </a:tabLst>
            </a:pP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Combines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NLP</a:t>
            </a:r>
            <a:r>
              <a:rPr sz="1600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+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rule-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knowledge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matching</a:t>
            </a: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reliability</a:t>
            </a:r>
            <a:endParaRPr sz="1600">
              <a:latin typeface="Times New Roman"/>
              <a:cs typeface="Times New Roman"/>
            </a:endParaRPr>
          </a:p>
          <a:p>
            <a:pPr marL="469265" indent="-386080">
              <a:lnSpc>
                <a:spcPct val="100000"/>
              </a:lnSpc>
              <a:buClr>
                <a:srgbClr val="353535"/>
              </a:buClr>
              <a:buChar char="□"/>
              <a:tabLst>
                <a:tab pos="469265" algn="l"/>
              </a:tabLst>
            </a:pP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Reduces</a:t>
            </a:r>
            <a:r>
              <a:rPr sz="16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repetitive</a:t>
            </a:r>
            <a:r>
              <a:rPr sz="16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human</a:t>
            </a:r>
            <a:r>
              <a:rPr sz="16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effort</a:t>
            </a:r>
            <a:r>
              <a:rPr sz="16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through</a:t>
            </a:r>
            <a:r>
              <a:rPr sz="16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automation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Times New Roman"/>
                <a:cs typeface="Times New Roman"/>
              </a:rPr>
              <a:t>Potential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Societal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Impact</a:t>
            </a:r>
            <a:endParaRPr sz="1600">
              <a:latin typeface="Times New Roman"/>
              <a:cs typeface="Times New Roman"/>
            </a:endParaRPr>
          </a:p>
          <a:p>
            <a:pPr marL="469265" indent="-351155">
              <a:lnSpc>
                <a:spcPct val="100000"/>
              </a:lnSpc>
              <a:spcBef>
                <a:spcPts val="1200"/>
              </a:spcBef>
              <a:buFont typeface="Arial"/>
              <a:buChar char="●"/>
              <a:tabLst>
                <a:tab pos="469265" algn="l"/>
              </a:tabLst>
            </a:pPr>
            <a:r>
              <a:rPr sz="1600" dirty="0">
                <a:latin typeface="Times New Roman"/>
                <a:cs typeface="Times New Roman"/>
              </a:rPr>
              <a:t>Reduces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workload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faculty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administrative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teams</a:t>
            </a:r>
            <a:endParaRPr sz="1600">
              <a:latin typeface="Times New Roman"/>
              <a:cs typeface="Times New Roman"/>
            </a:endParaRPr>
          </a:p>
          <a:p>
            <a:pPr marL="469265" indent="-351155">
              <a:lnSpc>
                <a:spcPct val="100000"/>
              </a:lnSpc>
              <a:spcBef>
                <a:spcPts val="285"/>
              </a:spcBef>
              <a:buFont typeface="Arial"/>
              <a:buChar char="●"/>
              <a:tabLst>
                <a:tab pos="469265" algn="l"/>
              </a:tabLst>
            </a:pPr>
            <a:r>
              <a:rPr sz="1600" dirty="0">
                <a:latin typeface="Times New Roman"/>
                <a:cs typeface="Times New Roman"/>
              </a:rPr>
              <a:t>Ensures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students/parents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get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24×7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accurate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information</a:t>
            </a:r>
            <a:endParaRPr sz="1600">
              <a:latin typeface="Times New Roman"/>
              <a:cs typeface="Times New Roman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"/>
              <a:buChar char="●"/>
              <a:tabLst>
                <a:tab pos="469265" algn="l"/>
              </a:tabLst>
            </a:pPr>
            <a:r>
              <a:rPr sz="1600" spc="-10" dirty="0">
                <a:latin typeface="Times New Roman"/>
                <a:cs typeface="Times New Roman"/>
              </a:rPr>
              <a:t>Improves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accessibility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students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rural/remote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areas</a:t>
            </a:r>
            <a:endParaRPr sz="1600">
              <a:latin typeface="Times New Roman"/>
              <a:cs typeface="Times New Roman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"/>
              <a:buChar char="●"/>
              <a:tabLst>
                <a:tab pos="469265" algn="l"/>
              </a:tabLst>
            </a:pPr>
            <a:r>
              <a:rPr sz="1600" spc="-10" dirty="0">
                <a:latin typeface="Times New Roman"/>
                <a:cs typeface="Times New Roman"/>
              </a:rPr>
              <a:t>Enhances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transparency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admissions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academic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processes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Scalability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Future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Scope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9271" y="4577435"/>
            <a:ext cx="5833110" cy="184086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385"/>
              </a:spcBef>
              <a:buFont typeface="Arial"/>
              <a:buChar char="●"/>
              <a:tabLst>
                <a:tab pos="363855" algn="l"/>
              </a:tabLst>
            </a:pP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extended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voice-</a:t>
            </a:r>
            <a:r>
              <a:rPr sz="1600" b="1" dirty="0">
                <a:latin typeface="Times New Roman"/>
                <a:cs typeface="Times New Roman"/>
              </a:rPr>
              <a:t>based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chatbot</a:t>
            </a:r>
            <a:endParaRPr sz="1600">
              <a:latin typeface="Times New Roman"/>
              <a:cs typeface="Times New Roman"/>
            </a:endParaRPr>
          </a:p>
          <a:p>
            <a:pPr marL="363855" marR="5080" indent="-351790">
              <a:lnSpc>
                <a:spcPct val="114999"/>
              </a:lnSpc>
              <a:buFont typeface="Arial"/>
              <a:buChar char="●"/>
              <a:tabLst>
                <a:tab pos="363855" algn="l"/>
              </a:tabLst>
            </a:pP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integrate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student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portals,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ERP</a:t>
            </a:r>
            <a:r>
              <a:rPr sz="1600" b="1" spc="-10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systems,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placement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cell</a:t>
            </a:r>
            <a:r>
              <a:rPr sz="1600" spc="-10" dirty="0">
                <a:latin typeface="Times New Roman"/>
                <a:cs typeface="Times New Roman"/>
              </a:rPr>
              <a:t>, </a:t>
            </a:r>
            <a:r>
              <a:rPr sz="1600" spc="-20" dirty="0">
                <a:latin typeface="Times New Roman"/>
                <a:cs typeface="Times New Roman"/>
              </a:rPr>
              <a:t>etc.</a:t>
            </a:r>
            <a:endParaRPr sz="1600">
              <a:latin typeface="Times New Roman"/>
              <a:cs typeface="Times New Roman"/>
            </a:endParaRPr>
          </a:p>
          <a:p>
            <a:pPr marL="363855" marR="808355" indent="-351790">
              <a:lnSpc>
                <a:spcPct val="114999"/>
              </a:lnSpc>
              <a:buFont typeface="Arial"/>
              <a:buChar char="●"/>
              <a:tabLst>
                <a:tab pos="363855" algn="l"/>
              </a:tabLst>
            </a:pP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deployed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across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multiple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colleges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universities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store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patterns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provide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personalized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responses</a:t>
            </a:r>
            <a:endParaRPr sz="1600">
              <a:latin typeface="Times New Roman"/>
              <a:cs typeface="Times New Roman"/>
            </a:endParaRPr>
          </a:p>
          <a:p>
            <a:pPr marL="363855" indent="-351155">
              <a:lnSpc>
                <a:spcPts val="1900"/>
              </a:lnSpc>
              <a:spcBef>
                <a:spcPts val="290"/>
              </a:spcBef>
              <a:buFont typeface="Arial"/>
              <a:buChar char="●"/>
              <a:tabLst>
                <a:tab pos="363855" algn="l"/>
              </a:tabLst>
            </a:pPr>
            <a:r>
              <a:rPr sz="1600" dirty="0">
                <a:latin typeface="Times New Roman"/>
                <a:cs typeface="Times New Roman"/>
              </a:rPr>
              <a:t>Supports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multilingual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expansion</a:t>
            </a:r>
            <a:endParaRPr sz="1600">
              <a:latin typeface="Times New Roman"/>
              <a:cs typeface="Times New Roman"/>
            </a:endParaRPr>
          </a:p>
          <a:p>
            <a:pPr marR="65405" algn="ctr">
              <a:lnSpc>
                <a:spcPts val="1060"/>
              </a:lnSpc>
              <a:tabLst>
                <a:tab pos="1588135" algn="l"/>
              </a:tabLst>
            </a:pPr>
            <a:r>
              <a:rPr sz="900" spc="-50" dirty="0">
                <a:solidFill>
                  <a:srgbClr val="888888"/>
                </a:solidFill>
                <a:latin typeface="Times New Roman"/>
                <a:cs typeface="Times New Roman"/>
              </a:rPr>
              <a:t>*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	Dept</a:t>
            </a:r>
            <a:r>
              <a:rPr sz="900" spc="-2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CSE.,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SOE-Dayananda</a:t>
            </a:r>
            <a:r>
              <a:rPr sz="900" spc="-1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Sagar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University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14732" y="529616"/>
            <a:ext cx="3233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imes New Roman"/>
                <a:cs typeface="Times New Roman"/>
              </a:rPr>
              <a:t>Literature</a:t>
            </a:r>
            <a:r>
              <a:rPr b="0" spc="-19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22555" y="6262294"/>
            <a:ext cx="42862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0"/>
              </a:lnSpc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(#)</a:t>
            </a:r>
            <a:r>
              <a:rPr sz="900" spc="21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888888"/>
                </a:solidFill>
                <a:latin typeface="Times New Roman"/>
                <a:cs typeface="Times New Roman"/>
              </a:rPr>
              <a:t>12</a:t>
            </a:r>
            <a:endParaRPr sz="9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8349" y="1111262"/>
          <a:ext cx="8060690" cy="55302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0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0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14450">
                <a:tc>
                  <a:txBody>
                    <a:bodyPr/>
                    <a:lstStyle/>
                    <a:p>
                      <a:pPr marL="85725" marR="24511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Author’s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Name/</a:t>
                      </a:r>
                      <a:r>
                        <a:rPr sz="1800" b="1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 Title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113664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Conference/Jo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urnal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479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Technology/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Design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939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shared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5600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What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you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2659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825">
                <a:tc>
                  <a:txBody>
                    <a:bodyPr/>
                    <a:lstStyle/>
                    <a:p>
                      <a:pPr marL="85725" marR="2774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00" i="1" dirty="0">
                          <a:latin typeface="Times New Roman"/>
                          <a:cs typeface="Times New Roman"/>
                        </a:rPr>
                        <a:t>Sahil</a:t>
                      </a:r>
                      <a:r>
                        <a:rPr sz="1100" i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Baviskar</a:t>
                      </a:r>
                      <a:r>
                        <a:rPr sz="1100" i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100" i="1" spc="-25" dirty="0">
                          <a:latin typeface="Times New Roman"/>
                          <a:cs typeface="Times New Roman"/>
                        </a:rPr>
                        <a:t> al. 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(2024) —</a:t>
                      </a:r>
                      <a:r>
                        <a:rPr sz="1100" i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“EduAssist: 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Chatbot</a:t>
                      </a:r>
                      <a:r>
                        <a:rPr sz="1100" i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100" i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Student 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Admission 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Queries”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IJRASET,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Volume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12,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Issue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11,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HuggingFace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Models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9466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language responses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Illustrates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5725" marR="14224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next-generation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chatbots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RAG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vector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databases.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Shows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how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advanced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retrieval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LLMs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significantly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improve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accuracy.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Indicates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scope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your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chatbot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adopt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RAG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richer,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more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5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responses.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85725">
                        <a:lnSpc>
                          <a:spcPts val="1290"/>
                        </a:lnSpc>
                        <a:spcBef>
                          <a:spcPts val="254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Pooja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Kandari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al.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290"/>
                        </a:lnSpc>
                        <a:spcBef>
                          <a:spcPts val="254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Asian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JouIRJET,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Volume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90"/>
                        </a:lnSpc>
                        <a:spcBef>
                          <a:spcPts val="254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(HuggingFace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90"/>
                        </a:lnSpc>
                        <a:spcBef>
                          <a:spcPts val="254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Flask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backend.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90"/>
                        </a:lnSpc>
                        <a:spcBef>
                          <a:spcPts val="254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traditional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NLP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(2025)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“Chatbot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12,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Issue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01,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2025rnal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Transformers)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MySQL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DB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(TF-IDF)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showing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Enquiry”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Research in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Computer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simpler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effective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Science,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Volume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18(6),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approaches.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Reinforces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22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your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benefits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advanced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(intent/entity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detection) for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better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accuracy and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interaction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quality.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52663" y="580199"/>
            <a:ext cx="3233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imes New Roman"/>
                <a:cs typeface="Times New Roman"/>
              </a:rPr>
              <a:t>Literature</a:t>
            </a:r>
            <a:r>
              <a:rPr b="0" spc="-19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Survey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68575" y="6200393"/>
            <a:ext cx="82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888888"/>
                </a:solidFill>
                <a:latin typeface="Times New Roman"/>
                <a:cs typeface="Times New Roman"/>
              </a:rPr>
              <a:t>*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02354" y="6213093"/>
            <a:ext cx="22618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Dept</a:t>
            </a:r>
            <a:r>
              <a:rPr sz="900" spc="-2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CSE.,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SOE-Dayananda</a:t>
            </a:r>
            <a:r>
              <a:rPr sz="900" spc="-1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Sagar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University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/>
              <a:t>18</a:t>
            </a:fld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12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41374" y="1314462"/>
          <a:ext cx="8076565" cy="36956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37945">
                <a:tc>
                  <a:txBody>
                    <a:bodyPr/>
                    <a:lstStyle/>
                    <a:p>
                      <a:pPr marL="85725" marR="2482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Author’s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Name/</a:t>
                      </a:r>
                      <a:r>
                        <a:rPr sz="1800" b="1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 Title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16839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Conference/Jo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urnal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5115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Technology/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Design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9715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shared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563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What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you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659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85725">
                        <a:lnSpc>
                          <a:spcPts val="1290"/>
                        </a:lnSpc>
                        <a:spcBef>
                          <a:spcPts val="254"/>
                        </a:spcBef>
                      </a:pPr>
                      <a:r>
                        <a:rPr sz="1100" i="1" dirty="0">
                          <a:latin typeface="Times New Roman"/>
                          <a:cs typeface="Times New Roman"/>
                        </a:rPr>
                        <a:t>Michael</a:t>
                      </a:r>
                      <a:r>
                        <a:rPr sz="1100" i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Mauldin</a:t>
                      </a:r>
                      <a:r>
                        <a:rPr sz="1100" i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(1994)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90"/>
                        </a:lnSpc>
                        <a:spcBef>
                          <a:spcPts val="254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Proceedings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the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90"/>
                        </a:lnSpc>
                        <a:spcBef>
                          <a:spcPts val="254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Early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conversational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90"/>
                        </a:lnSpc>
                        <a:spcBef>
                          <a:spcPts val="254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Rule-based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bots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can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290"/>
                        </a:lnSpc>
                        <a:spcBef>
                          <a:spcPts val="254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Modern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ML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i="1" dirty="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sz="1100" i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“ChatterBots,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Eleventh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National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agent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“Julia”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mimic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human-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like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(used in your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project)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TinyMUDs,</a:t>
                      </a:r>
                      <a:r>
                        <a:rPr sz="1100" i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i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Conference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1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Artificial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conversation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solve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many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these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Turing</a:t>
                      </a:r>
                      <a:r>
                        <a:rPr sz="1100" i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Test:</a:t>
                      </a:r>
                      <a:r>
                        <a:rPr sz="1100" i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Entering</a:t>
                      </a:r>
                      <a:r>
                        <a:rPr sz="1100" i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Intelligence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(AAAI),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limitations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i="1" dirty="0">
                          <a:latin typeface="Times New Roman"/>
                          <a:cs typeface="Times New Roman"/>
                        </a:rPr>
                        <a:t>Loebner</a:t>
                      </a:r>
                      <a:r>
                        <a:rPr sz="1100" i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Prize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1994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D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804">
                <a:tc>
                  <a:txBody>
                    <a:bodyPr/>
                    <a:lstStyle/>
                    <a:p>
                      <a:pPr marL="85725">
                        <a:lnSpc>
                          <a:spcPts val="1250"/>
                        </a:lnSpc>
                      </a:pP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Competition”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85725">
                        <a:lnSpc>
                          <a:spcPts val="1290"/>
                        </a:lnSpc>
                        <a:spcBef>
                          <a:spcPts val="254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Oviyan,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80" dirty="0">
                          <a:latin typeface="Times New Roman"/>
                          <a:cs typeface="Times New Roman"/>
                        </a:rPr>
                        <a:t>V.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Jaya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90"/>
                        </a:lnSpc>
                        <a:spcBef>
                          <a:spcPts val="254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Asian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90"/>
                        </a:lnSpc>
                        <a:spcBef>
                          <a:spcPts val="254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(HuggingFace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90"/>
                        </a:lnSpc>
                        <a:spcBef>
                          <a:spcPts val="254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92%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response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290"/>
                        </a:lnSpc>
                        <a:spcBef>
                          <a:spcPts val="254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Very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advanced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chatbot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Prakash,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Praveen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Research in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Computer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Transformers)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50+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queries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(multimodal: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text,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voice,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Kumar,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R.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Vishva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V.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Science,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Volume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18(6),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- 85% accuracy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in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22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image)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Thiruppathy Kesavan 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identifying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college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i="1" dirty="0">
                          <a:latin typeface="Times New Roman"/>
                          <a:cs typeface="Times New Roman"/>
                        </a:rPr>
                        <a:t>“AI</a:t>
                      </a:r>
                      <a:r>
                        <a:rPr sz="1100" i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Powered</a:t>
                      </a:r>
                      <a:r>
                        <a:rPr sz="1100" i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Chatbot</a:t>
                      </a:r>
                      <a:r>
                        <a:rPr sz="1100" i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buildings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images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i="1" dirty="0">
                          <a:latin typeface="Times New Roman"/>
                          <a:cs typeface="Times New Roman"/>
                        </a:rPr>
                        <a:t>College</a:t>
                      </a:r>
                      <a:r>
                        <a:rPr sz="1100" i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1100" i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2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- 65% reduction in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804">
                <a:tc>
                  <a:txBody>
                    <a:bodyPr/>
                    <a:lstStyle/>
                    <a:p>
                      <a:pPr marL="85725">
                        <a:lnSpc>
                          <a:spcPts val="1250"/>
                        </a:lnSpc>
                      </a:pPr>
                      <a:r>
                        <a:rPr sz="1100" i="1" dirty="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sz="1100" i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Support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5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get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information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F52DA-330A-BACD-37BE-7E0748B7F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609600"/>
            <a:ext cx="6142403" cy="553998"/>
          </a:xfrm>
        </p:spPr>
        <p:txBody>
          <a:bodyPr/>
          <a:lstStyle/>
          <a:p>
            <a:r>
              <a:rPr lang="en-US" dirty="0"/>
              <a:t>Demonstration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B4FF5-CBCA-1962-1A29-A9300BD94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057400"/>
            <a:ext cx="8166100" cy="369569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DE8F1-4D0B-E59D-921F-8A13E8B5D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61" y="1578618"/>
            <a:ext cx="8435978" cy="465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43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A1DEBE-266F-04C2-5C8C-C2E538D3870F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3822E-64DE-E564-1522-1EA4B5FBA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303020"/>
            <a:ext cx="6583612" cy="479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66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B538E4-B93E-94C7-724A-BFDF6D27E2A2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1A210-BC2C-6096-C322-60617F7C0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226" y="1219200"/>
            <a:ext cx="6858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044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0387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5912" y="1795272"/>
            <a:ext cx="6483985" cy="31223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8465" indent="-405765">
              <a:lnSpc>
                <a:spcPts val="2050"/>
              </a:lnSpc>
              <a:buClr>
                <a:srgbClr val="353535"/>
              </a:buClr>
              <a:buSzPct val="163636"/>
              <a:buChar char="□"/>
              <a:tabLst>
                <a:tab pos="418465" algn="l"/>
              </a:tabLst>
            </a:pPr>
            <a:r>
              <a:rPr sz="1100" dirty="0">
                <a:latin typeface="Times New Roman"/>
                <a:cs typeface="Times New Roman"/>
              </a:rPr>
              <a:t>[1]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Mauldin,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“ChatterBots,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TinyMUDs,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Turing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Test: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Entering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Loebner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Prize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Competition,”</a:t>
            </a:r>
            <a:endParaRPr sz="1100" dirty="0">
              <a:latin typeface="Times New Roman"/>
              <a:cs typeface="Times New Roman"/>
            </a:endParaRPr>
          </a:p>
          <a:p>
            <a:pPr marL="419100">
              <a:lnSpc>
                <a:spcPct val="100000"/>
              </a:lnSpc>
              <a:spcBef>
                <a:spcPts val="350"/>
              </a:spcBef>
            </a:pPr>
            <a:r>
              <a:rPr sz="1100" i="1" spc="-10" dirty="0">
                <a:latin typeface="Times New Roman"/>
                <a:cs typeface="Times New Roman"/>
              </a:rPr>
              <a:t>Proceedings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of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the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Eleventh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National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Conference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on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Artificial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Intelligence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(AAAI)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10" dirty="0">
                <a:latin typeface="Times New Roman"/>
                <a:cs typeface="Times New Roman"/>
              </a:rPr>
              <a:t> 1994.</a:t>
            </a:r>
            <a:endParaRPr sz="1100" dirty="0">
              <a:latin typeface="Times New Roman"/>
              <a:cs typeface="Times New Roman"/>
            </a:endParaRPr>
          </a:p>
          <a:p>
            <a:pPr marL="418465" indent="-405765">
              <a:lnSpc>
                <a:spcPct val="100000"/>
              </a:lnSpc>
              <a:spcBef>
                <a:spcPts val="170"/>
              </a:spcBef>
              <a:buClr>
                <a:srgbClr val="353535"/>
              </a:buClr>
              <a:buSzPct val="163636"/>
              <a:buChar char="□"/>
              <a:tabLst>
                <a:tab pos="418465" algn="l"/>
              </a:tabLst>
            </a:pPr>
            <a:r>
              <a:rPr sz="1100" dirty="0">
                <a:latin typeface="Times New Roman"/>
                <a:cs typeface="Times New Roman"/>
              </a:rPr>
              <a:t>[2]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Oviyan,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80" dirty="0">
                <a:latin typeface="Times New Roman"/>
                <a:cs typeface="Times New Roman"/>
              </a:rPr>
              <a:t>V.</a:t>
            </a:r>
            <a:r>
              <a:rPr sz="1100" dirty="0">
                <a:latin typeface="Times New Roman"/>
                <a:cs typeface="Times New Roman"/>
              </a:rPr>
              <a:t> J.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Prakash,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65" dirty="0">
                <a:latin typeface="Times New Roman"/>
                <a:cs typeface="Times New Roman"/>
              </a:rPr>
              <a:t>P.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Kumar,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R.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Vishva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85" dirty="0">
                <a:latin typeface="Times New Roman"/>
                <a:cs typeface="Times New Roman"/>
              </a:rPr>
              <a:t>V.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30" dirty="0">
                <a:latin typeface="Times New Roman"/>
                <a:cs typeface="Times New Roman"/>
              </a:rPr>
              <a:t>T.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Kesavan,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“AI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Powered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Chatbot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0" dirty="0">
                <a:latin typeface="Times New Roman"/>
                <a:cs typeface="Times New Roman"/>
              </a:rPr>
              <a:t> College</a:t>
            </a:r>
            <a:endParaRPr sz="1100" dirty="0">
              <a:latin typeface="Times New Roman"/>
              <a:cs typeface="Times New Roman"/>
            </a:endParaRPr>
          </a:p>
          <a:p>
            <a:pPr marL="419100" marR="5080">
              <a:lnSpc>
                <a:spcPct val="114999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Information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Student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Support,”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Asian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Journal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of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Research </a:t>
            </a:r>
            <a:r>
              <a:rPr sz="1100" i="1" dirty="0">
                <a:latin typeface="Times New Roman"/>
                <a:cs typeface="Times New Roman"/>
              </a:rPr>
              <a:t>in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Computer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Science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vol.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18,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6,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pp.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1–</a:t>
            </a:r>
            <a:r>
              <a:rPr sz="1100" spc="-25" dirty="0">
                <a:latin typeface="Times New Roman"/>
                <a:cs typeface="Times New Roman"/>
              </a:rPr>
              <a:t>12, </a:t>
            </a:r>
            <a:r>
              <a:rPr sz="1100" spc="-10" dirty="0">
                <a:latin typeface="Times New Roman"/>
                <a:cs typeface="Times New Roman"/>
              </a:rPr>
              <a:t>2025.</a:t>
            </a:r>
            <a:endParaRPr sz="1100" dirty="0">
              <a:latin typeface="Times New Roman"/>
              <a:cs typeface="Times New Roman"/>
            </a:endParaRPr>
          </a:p>
          <a:p>
            <a:pPr marL="418465" indent="-405765">
              <a:lnSpc>
                <a:spcPct val="100000"/>
              </a:lnSpc>
              <a:spcBef>
                <a:spcPts val="170"/>
              </a:spcBef>
              <a:buClr>
                <a:srgbClr val="353535"/>
              </a:buClr>
              <a:buSzPct val="163636"/>
              <a:buChar char="□"/>
              <a:tabLst>
                <a:tab pos="418465" algn="l"/>
              </a:tabLst>
            </a:pPr>
            <a:r>
              <a:rPr sz="1100" dirty="0">
                <a:latin typeface="Times New Roman"/>
                <a:cs typeface="Times New Roman"/>
              </a:rPr>
              <a:t>[3]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Kotambe,</a:t>
            </a:r>
            <a:r>
              <a:rPr sz="1100" spc="-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Lalage,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65" dirty="0">
                <a:latin typeface="Times New Roman"/>
                <a:cs typeface="Times New Roman"/>
              </a:rPr>
              <a:t>P.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Shirke,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A.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A.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Taralkar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G.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80" dirty="0">
                <a:latin typeface="Times New Roman"/>
                <a:cs typeface="Times New Roman"/>
              </a:rPr>
              <a:t>V.</a:t>
            </a:r>
            <a:r>
              <a:rPr sz="1100" dirty="0">
                <a:latin typeface="Times New Roman"/>
                <a:cs typeface="Times New Roman"/>
              </a:rPr>
              <a:t> Purohit,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“AI–</a:t>
            </a:r>
            <a:r>
              <a:rPr sz="1100" dirty="0">
                <a:latin typeface="Times New Roman"/>
                <a:cs typeface="Times New Roman"/>
              </a:rPr>
              <a:t>Powered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Student</a:t>
            </a:r>
            <a:endParaRPr sz="1100" dirty="0">
              <a:latin typeface="Times New Roman"/>
              <a:cs typeface="Times New Roman"/>
            </a:endParaRPr>
          </a:p>
          <a:p>
            <a:pPr marL="419100" marR="278765">
              <a:lnSpc>
                <a:spcPct val="114999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Assistance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Chatbot,”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International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Journal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of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Creative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Research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Thoughts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(IJCRT)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vol.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12,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11,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pp. </a:t>
            </a:r>
            <a:r>
              <a:rPr sz="1100" dirty="0">
                <a:latin typeface="Times New Roman"/>
                <a:cs typeface="Times New Roman"/>
              </a:rPr>
              <a:t>253–256, </a:t>
            </a:r>
            <a:r>
              <a:rPr sz="1100" spc="-10" dirty="0">
                <a:latin typeface="Times New Roman"/>
                <a:cs typeface="Times New Roman"/>
              </a:rPr>
              <a:t>2024.</a:t>
            </a:r>
            <a:endParaRPr sz="1100" dirty="0">
              <a:latin typeface="Times New Roman"/>
              <a:cs typeface="Times New Roman"/>
            </a:endParaRPr>
          </a:p>
          <a:p>
            <a:pPr marL="419100" marR="382270" indent="-407034">
              <a:lnSpc>
                <a:spcPts val="1810"/>
              </a:lnSpc>
              <a:spcBef>
                <a:spcPts val="520"/>
              </a:spcBef>
              <a:buClr>
                <a:srgbClr val="353535"/>
              </a:buClr>
              <a:buSzPct val="163636"/>
              <a:buChar char="□"/>
              <a:tabLst>
                <a:tab pos="419100" algn="l"/>
              </a:tabLst>
            </a:pPr>
            <a:r>
              <a:rPr sz="1100" dirty="0">
                <a:latin typeface="Times New Roman"/>
                <a:cs typeface="Times New Roman"/>
              </a:rPr>
              <a:t>[4]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65" dirty="0">
                <a:latin typeface="Times New Roman"/>
                <a:cs typeface="Times New Roman"/>
              </a:rPr>
              <a:t>P.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Kandari,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S.,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K.,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Sultan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B.,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S.</a:t>
            </a:r>
            <a:r>
              <a:rPr sz="1100" spc="-10" dirty="0">
                <a:latin typeface="Times New Roman"/>
                <a:cs typeface="Times New Roman"/>
              </a:rPr>
              <a:t> S.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A.,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“Chatbot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Student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Enquiry,”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International Research </a:t>
            </a:r>
            <a:r>
              <a:rPr sz="1100" i="1" dirty="0">
                <a:latin typeface="Times New Roman"/>
                <a:cs typeface="Times New Roman"/>
              </a:rPr>
              <a:t>Journal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of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Engineering</a:t>
            </a:r>
            <a:r>
              <a:rPr sz="1100" i="1" spc="-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and</a:t>
            </a:r>
            <a:r>
              <a:rPr sz="1100" i="1" spc="-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Technology </a:t>
            </a:r>
            <a:r>
              <a:rPr sz="1100" i="1" dirty="0">
                <a:latin typeface="Times New Roman"/>
                <a:cs typeface="Times New Roman"/>
              </a:rPr>
              <a:t>(IRJET)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vol.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12,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01,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pp.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400–403,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Jan.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2025.</a:t>
            </a:r>
            <a:endParaRPr sz="1100" dirty="0">
              <a:latin typeface="Times New Roman"/>
              <a:cs typeface="Times New Roman"/>
            </a:endParaRPr>
          </a:p>
          <a:p>
            <a:pPr marL="418465" indent="-405765">
              <a:lnSpc>
                <a:spcPct val="100000"/>
              </a:lnSpc>
              <a:spcBef>
                <a:spcPts val="30"/>
              </a:spcBef>
              <a:buClr>
                <a:srgbClr val="353535"/>
              </a:buClr>
              <a:buSzPct val="163636"/>
              <a:buChar char="□"/>
              <a:tabLst>
                <a:tab pos="418465" algn="l"/>
              </a:tabLst>
            </a:pPr>
            <a:r>
              <a:rPr sz="1100" dirty="0">
                <a:latin typeface="Times New Roman"/>
                <a:cs typeface="Times New Roman"/>
              </a:rPr>
              <a:t>[5]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Baviskar,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Deshmukh,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Deshmukh,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N.</a:t>
            </a:r>
            <a:r>
              <a:rPr sz="1100" spc="-10" dirty="0">
                <a:latin typeface="Times New Roman"/>
                <a:cs typeface="Times New Roman"/>
              </a:rPr>
              <a:t> Kothawade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Mali,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“EduAssist: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Chatbot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0" dirty="0">
                <a:latin typeface="Times New Roman"/>
                <a:cs typeface="Times New Roman"/>
              </a:rPr>
              <a:t> Student</a:t>
            </a:r>
            <a:endParaRPr sz="1100" dirty="0">
              <a:latin typeface="Times New Roman"/>
              <a:cs typeface="Times New Roman"/>
            </a:endParaRPr>
          </a:p>
          <a:p>
            <a:pPr marL="419100" marR="286385">
              <a:lnSpc>
                <a:spcPct val="114999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Admission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Queries,”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International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Journal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Research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in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Applied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Science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&amp;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Engineering</a:t>
            </a:r>
            <a:r>
              <a:rPr sz="1100" i="1" spc="-10" dirty="0">
                <a:latin typeface="Times New Roman"/>
                <a:cs typeface="Times New Roman"/>
              </a:rPr>
              <a:t> Technology </a:t>
            </a:r>
            <a:r>
              <a:rPr sz="1100" i="1" dirty="0">
                <a:latin typeface="Times New Roman"/>
                <a:cs typeface="Times New Roman"/>
              </a:rPr>
              <a:t>(IJRASET)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vol.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12,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11,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pp.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1119–</a:t>
            </a:r>
            <a:r>
              <a:rPr sz="1100" dirty="0">
                <a:latin typeface="Times New Roman"/>
                <a:cs typeface="Times New Roman"/>
              </a:rPr>
              <a:t>1122,</a:t>
            </a:r>
            <a:r>
              <a:rPr sz="1100" spc="-10" dirty="0">
                <a:latin typeface="Times New Roman"/>
                <a:cs typeface="Times New Roman"/>
              </a:rPr>
              <a:t> Nov.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2024.</a:t>
            </a: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0025" y="6203028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888888"/>
                </a:solidFill>
                <a:latin typeface="Times New Roman"/>
                <a:cs typeface="Times New Roman"/>
              </a:rPr>
              <a:t>*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02354" y="6200647"/>
            <a:ext cx="2261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Dept</a:t>
            </a:r>
            <a:r>
              <a:rPr sz="900" spc="-2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CSE.,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SOE-Dayananda</a:t>
            </a:r>
            <a:r>
              <a:rPr sz="900" spc="-1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Sagar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University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33574" y="6237161"/>
            <a:ext cx="406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19</a:t>
            </a:r>
            <a:r>
              <a:rPr sz="900" spc="-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888888"/>
                </a:solidFill>
                <a:latin typeface="Times New Roman"/>
                <a:cs typeface="Times New Roman"/>
              </a:rPr>
              <a:t>12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1513</Words>
  <Application>Microsoft Office PowerPoint</Application>
  <PresentationFormat>On-screen Show (4:3)</PresentationFormat>
  <Paragraphs>264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MS PMincho</vt:lpstr>
      <vt:lpstr>Arial</vt:lpstr>
      <vt:lpstr>Calibri</vt:lpstr>
      <vt:lpstr>Century Gothic</vt:lpstr>
      <vt:lpstr>Times New Roman</vt:lpstr>
      <vt:lpstr>Office Theme</vt:lpstr>
      <vt:lpstr>Department of Computer Science and Technology</vt:lpstr>
      <vt:lpstr>Overview</vt:lpstr>
      <vt:lpstr>Abstract</vt:lpstr>
      <vt:lpstr>Project Scope &amp; Clarity</vt:lpstr>
      <vt:lpstr>Project Scope &amp; Clarity</vt:lpstr>
      <vt:lpstr>UML Diagram</vt:lpstr>
      <vt:lpstr>Flow chart</vt:lpstr>
      <vt:lpstr>System Architecture</vt:lpstr>
      <vt:lpstr>System Architecture</vt:lpstr>
      <vt:lpstr>Requirement Specification &amp; Validation</vt:lpstr>
      <vt:lpstr>Requirement Specification &amp; Validation</vt:lpstr>
      <vt:lpstr>Requirement Specification &amp; Validation</vt:lpstr>
      <vt:lpstr>Requirement Specification &amp; Validation</vt:lpstr>
      <vt:lpstr>Algorithm </vt:lpstr>
      <vt:lpstr>PowerPoint Presentation</vt:lpstr>
      <vt:lpstr>Innovation &amp; Potential Impact</vt:lpstr>
      <vt:lpstr>Literature Survey</vt:lpstr>
      <vt:lpstr>Literature Survey</vt:lpstr>
      <vt:lpstr>Demonstration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I Review Template.pptx</dc:title>
  <dc:creator>Chandrakanth</dc:creator>
  <cp:lastModifiedBy>Chandrakanth Govind</cp:lastModifiedBy>
  <cp:revision>2</cp:revision>
  <dcterms:created xsi:type="dcterms:W3CDTF">2026-02-25T06:17:06Z</dcterms:created>
  <dcterms:modified xsi:type="dcterms:W3CDTF">2026-02-25T06:58:04Z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2026-02-25T00:00:00Z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2026-02-25T00:00:00Z</vt:filetime>
  </property>
</Properties>
</file>